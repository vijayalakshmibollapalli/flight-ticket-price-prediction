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8" r:id="rId3"/>
    <p:sldId id="290" r:id="rId4"/>
    <p:sldId id="260" r:id="rId5"/>
    <p:sldId id="287" r:id="rId6"/>
    <p:sldId id="288" r:id="rId7"/>
    <p:sldId id="261" r:id="rId8"/>
    <p:sldId id="265" r:id="rId9"/>
    <p:sldId id="263" r:id="rId10"/>
    <p:sldId id="298" r:id="rId11"/>
    <p:sldId id="292" r:id="rId12"/>
    <p:sldId id="294" r:id="rId13"/>
    <p:sldId id="295" r:id="rId14"/>
    <p:sldId id="296" r:id="rId15"/>
    <p:sldId id="274" r:id="rId16"/>
    <p:sldId id="301" r:id="rId17"/>
    <p:sldId id="277" r:id="rId18"/>
    <p:sldId id="278" r:id="rId19"/>
    <p:sldId id="259" r:id="rId20"/>
  </p:sldIdLst>
  <p:sldSz cx="12192000" cy="6858000"/>
  <p:notesSz cx="6858000" cy="9144000"/>
  <p:embeddedFontLst>
    <p:embeddedFont>
      <p:font typeface="Libre Baskerville" panose="02000000000000000000" pitchFamily="2"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3EBC8DE-2F06-5C12-EB24-6257663D4DD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649B495-318C-6EA6-39DC-D3299A5E07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C600B18-A6BB-C08E-A738-E5352D45B8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4239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D67880E-3CD8-9F89-0433-0F436CA3A62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70CB7FA-28DB-A218-FC9F-15D9321F91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9FB3E8A-065B-3AC3-DFF9-440EAD53A6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4599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E25A57D-AA3B-6132-DF87-33DF052B0BD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AFCBF69-7F3B-6EE9-5D6B-A87D0C7C36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007BB218-DC2A-D8AF-7EDB-025F485E81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0318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0F50653-A274-5D56-DD54-E47867E4263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504F893-7744-511D-8006-2762728D499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7C71CDB9-E1B5-2AF7-2A00-1C0E1D9A2F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2984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69B8AAD-57EE-EC4B-82BE-C1AE73B5FA4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16EDFFD-5F27-1F05-E99A-3DBAE693AD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180B100-7951-266C-E263-2A619E3D19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3939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4F306F8-FA99-9918-E8E2-2945EDA41B4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DD8F20C-08B3-E63C-828E-596801D20D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1A3AE8E-677D-CC23-974B-A91E18C0A0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5461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B20FA41-43A4-22E4-3D87-E2B22CED39D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F525D1A-613F-DDCA-777A-5AE1306922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AD6E19E-4012-98F9-DD72-9B6C987117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6679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DBE10D9-5626-835D-9159-DDE1166342C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C6A9533-E2DA-15A5-CFA0-E5D1D79D5C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88FEB72-C8AB-EB24-DC65-62416A7268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033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AFC11DD-512E-5487-A3A2-0B6AED1FF44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3EE4F5B-7315-2AB1-2F38-8296FF7323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F584E532-D46E-A970-5FF4-F41C461A4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4978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9F9C176-90F1-3496-206E-3CBD916B39E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8E6854CD-6FB4-541B-C8F2-EC92426F4E4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D7015A68-9FBC-1F19-39B9-6713A3561F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0526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206CB33-377B-8881-047D-CB08DBBDE84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918E265-05A5-407F-F4F2-CCC78DA2E2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08D2A793-5D85-CE10-B813-5B0F40EB62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3859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7CCCF0A-CC47-9705-24D3-31E88CAFCE7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8E770AFF-D06F-0E4B-3A44-60895DB9CC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DCE399D6-801A-F305-8BB6-79C79C80D2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0868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1F54EE3-4348-9D0C-CF5F-A78D3D53483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2A92676-3340-41A1-2911-FB1830DE60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B2491FB8-EDED-7919-B835-4E9E2544D5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1394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78F4469-4C56-86C9-FDA1-F2D0E1063AA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FA61657-4EF6-9647-432F-E8CB5CFD06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9C1CDE5-BAA0-9F35-B979-FDEA64E007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1981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F6F78D9-4C96-C5A9-36EF-6C84307C1EC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EAA464B-042E-34B3-FBB8-583B48D2AF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5F32535-E816-25DF-66A4-4CC4426001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9108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297012B-CB47-4958-624F-B081DDC2E39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9784C63-BFC1-2DA8-DF28-268FAE867B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3113F8B-4C2F-8F0D-D4AA-BB11B2AB19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421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bollapalli-vijaya-lakshmi"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github.com/Vijayalakshmibollapall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huggingface.co/spaces/Vijayalakshmibollapalli/Flight_Ticket_Price_Prediction"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01615"/>
            <a:ext cx="12190815" cy="6694098"/>
          </a:xfrm>
          <a:prstGeom prst="rect">
            <a:avLst/>
          </a:prstGeom>
          <a:noFill/>
          <a:ln>
            <a:noFill/>
          </a:ln>
        </p:spPr>
      </p:pic>
      <p:sp>
        <p:nvSpPr>
          <p:cNvPr id="99" name="Google Shape;99;p1"/>
          <p:cNvSpPr txBox="1"/>
          <p:nvPr/>
        </p:nvSpPr>
        <p:spPr>
          <a:xfrm>
            <a:off x="2472904" y="3717986"/>
            <a:ext cx="7246189" cy="584735"/>
          </a:xfrm>
          <a:prstGeom prst="rect">
            <a:avLst/>
          </a:prstGeom>
          <a:noFill/>
          <a:ln>
            <a:noFill/>
          </a:ln>
        </p:spPr>
        <p:txBody>
          <a:bodyPr spcFirstLastPara="1" wrap="square" lIns="91425" tIns="45700" rIns="91425" bIns="45700" anchor="t" anchorCtr="0">
            <a:spAutoFit/>
          </a:bodyPr>
          <a:lstStyle/>
          <a:p>
            <a:pPr algn="ctr">
              <a:buSzPts val="1800"/>
            </a:pPr>
            <a:r>
              <a:rPr lang="en-IN" sz="3200" b="1" dirty="0">
                <a:latin typeface="Calibri" panose="020F0502020204030204" pitchFamily="34" charset="0"/>
                <a:ea typeface="Calibri" panose="020F0502020204030204" pitchFamily="34" charset="0"/>
                <a:cs typeface="Calibri" panose="020F0502020204030204" pitchFamily="34" charset="0"/>
              </a:rPr>
              <a:t>Flight Ticket Price Prediction Using ML</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CD78F7C-5025-5C63-317E-C9A4D02A51DB}"/>
              </a:ext>
            </a:extLst>
          </p:cNvPr>
          <p:cNvSpPr txBox="1"/>
          <p:nvPr/>
        </p:nvSpPr>
        <p:spPr>
          <a:xfrm>
            <a:off x="8694593" y="5291459"/>
            <a:ext cx="2470935" cy="1200329"/>
          </a:xfrm>
          <a:prstGeom prst="rect">
            <a:avLst/>
          </a:prstGeom>
          <a:noFill/>
        </p:spPr>
        <p:txBody>
          <a:bodyPr wrap="square" rtlCol="0">
            <a:spAutoFit/>
          </a:bodyPr>
          <a:lstStyle/>
          <a:p>
            <a:r>
              <a:rPr lang="en-US" sz="2400" b="1" dirty="0">
                <a:solidFill>
                  <a:srgbClr val="EE4247"/>
                </a:solidFill>
                <a:latin typeface="Calibri" panose="020F0502020204030204" pitchFamily="34" charset="0"/>
                <a:ea typeface="Calibri" panose="020F0502020204030204" pitchFamily="34" charset="0"/>
                <a:cs typeface="Calibri" panose="020F0502020204030204" pitchFamily="34" charset="0"/>
              </a:rPr>
              <a:t>Presented By:</a:t>
            </a:r>
          </a:p>
          <a:p>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B Vijaya Lakshmi</a:t>
            </a:r>
          </a:p>
          <a:p>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Batch No: 460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497230" y="-70212"/>
            <a:ext cx="10515600" cy="1325563"/>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US" sz="4000" b="1" i="1" u="sng" dirty="0">
                <a:solidFill>
                  <a:srgbClr val="FF0000"/>
                </a:solidFill>
              </a:rPr>
              <a:t>About Me</a:t>
            </a:r>
            <a:endParaRPr sz="4000" b="1" i="1" u="sng" dirty="0">
              <a:solidFill>
                <a:srgbClr val="FF0000"/>
              </a:solidFill>
            </a:endParaRPr>
          </a:p>
        </p:txBody>
      </p:sp>
      <p:sp>
        <p:nvSpPr>
          <p:cNvPr id="111" name="Google Shape;111;p4"/>
          <p:cNvSpPr txBox="1">
            <a:spLocks noGrp="1"/>
          </p:cNvSpPr>
          <p:nvPr>
            <p:ph type="body" idx="1"/>
          </p:nvPr>
        </p:nvSpPr>
        <p:spPr>
          <a:xfrm>
            <a:off x="838200" y="971556"/>
            <a:ext cx="10515600" cy="4777234"/>
          </a:xfrm>
          <a:prstGeom prst="rect">
            <a:avLst/>
          </a:prstGeom>
          <a:noFill/>
          <a:ln>
            <a:noFill/>
          </a:ln>
        </p:spPr>
        <p:txBody>
          <a:bodyPr spcFirstLastPara="1" wrap="square" lIns="91425" tIns="45700" rIns="91425" bIns="45700" anchor="t" anchorCtr="0">
            <a:noAutofit/>
          </a:bodyPr>
          <a:lstStyle/>
          <a:p>
            <a:pPr>
              <a:buFont typeface="Wingdings" panose="05000000000000000000" pitchFamily="2" charset="2"/>
              <a:buChar char="§"/>
            </a:pPr>
            <a:r>
              <a:rPr lang="en-US" sz="2000" dirty="0"/>
              <a:t>I am a </a:t>
            </a:r>
            <a:r>
              <a:rPr lang="en-US" sz="2000" b="1" dirty="0"/>
              <a:t>recent postgraduate in Data Science</a:t>
            </a:r>
            <a:r>
              <a:rPr lang="en-US" sz="2000" dirty="0"/>
              <a:t> from </a:t>
            </a:r>
            <a:r>
              <a:rPr lang="en-US" sz="2000" b="1" dirty="0" err="1"/>
              <a:t>Bankatlal</a:t>
            </a:r>
            <a:r>
              <a:rPr lang="en-US" sz="2000" b="1" dirty="0"/>
              <a:t> </a:t>
            </a:r>
            <a:r>
              <a:rPr lang="en-US" sz="2000" b="1" dirty="0" err="1"/>
              <a:t>Badruka</a:t>
            </a:r>
            <a:r>
              <a:rPr lang="en-US" sz="2000" b="1" dirty="0"/>
              <a:t> College for Information Technology</a:t>
            </a:r>
            <a:r>
              <a:rPr lang="en-US" sz="2000" dirty="0"/>
              <a:t>.</a:t>
            </a:r>
          </a:p>
          <a:p>
            <a:pPr marL="114300" indent="0">
              <a:buNone/>
            </a:pPr>
            <a:endParaRPr lang="en-US" sz="200" dirty="0"/>
          </a:p>
          <a:p>
            <a:pPr>
              <a:buFont typeface="Wingdings" panose="05000000000000000000" pitchFamily="2" charset="2"/>
              <a:buChar char="§"/>
            </a:pPr>
            <a:r>
              <a:rPr lang="en-US" sz="2000" dirty="0"/>
              <a:t>I have a strong interest in </a:t>
            </a:r>
            <a:r>
              <a:rPr lang="en-US" sz="2000" b="1" dirty="0"/>
              <a:t>Data Analytics, Machine Learning, and Artificial Intelligence</a:t>
            </a:r>
            <a:r>
              <a:rPr lang="en-US" sz="2000" dirty="0"/>
              <a:t>, and I enjoy using </a:t>
            </a:r>
            <a:r>
              <a:rPr lang="en-US" sz="2000" b="1" dirty="0"/>
              <a:t>data-driven techniques to solve real-world business problems</a:t>
            </a:r>
            <a:r>
              <a:rPr lang="en-US" sz="2000" dirty="0"/>
              <a:t>.</a:t>
            </a:r>
          </a:p>
          <a:p>
            <a:pPr marL="114300" indent="0">
              <a:buNone/>
            </a:pPr>
            <a:endParaRPr lang="en-US" sz="100" dirty="0"/>
          </a:p>
          <a:p>
            <a:pPr>
              <a:buFont typeface="Wingdings" panose="05000000000000000000" pitchFamily="2" charset="2"/>
              <a:buChar char="§"/>
            </a:pPr>
            <a:r>
              <a:rPr lang="en-US" sz="2000" dirty="0"/>
              <a:t>I have experience working with tools and technologies such as </a:t>
            </a:r>
            <a:r>
              <a:rPr lang="en-US" sz="2000" b="1" dirty="0"/>
              <a:t>Python, SQL, Power BI, data analysis libraries, and data visualization tools</a:t>
            </a:r>
            <a:r>
              <a:rPr lang="en-US" sz="2000" dirty="0"/>
              <a:t> to </a:t>
            </a:r>
            <a:r>
              <a:rPr lang="en-US" sz="2000" b="1" dirty="0"/>
              <a:t>analyze data, build models, and generate meaningful insights</a:t>
            </a:r>
            <a:r>
              <a:rPr lang="en-US" sz="2000" dirty="0"/>
              <a:t>.</a:t>
            </a:r>
          </a:p>
          <a:p>
            <a:pPr marL="114300" indent="0">
              <a:buNone/>
            </a:pPr>
            <a:endParaRPr lang="en-US" sz="200" dirty="0"/>
          </a:p>
          <a:p>
            <a:pPr>
              <a:buFont typeface="Wingdings" panose="05000000000000000000" pitchFamily="2" charset="2"/>
              <a:buChar char="§"/>
            </a:pPr>
            <a:r>
              <a:rPr lang="en-US" sz="2000" b="1" dirty="0"/>
              <a:t>LinkedIn:</a:t>
            </a:r>
            <a:r>
              <a:rPr lang="en-US" sz="2000" dirty="0"/>
              <a:t> </a:t>
            </a:r>
            <a:r>
              <a:rPr lang="en-US" sz="2000" dirty="0">
                <a:hlinkClick r:id="rId3"/>
              </a:rPr>
              <a:t>www.linkedin.com/in/bollapalli-vijaya-lakshmi</a:t>
            </a:r>
            <a:endParaRPr lang="en-US" sz="2000" dirty="0"/>
          </a:p>
          <a:p>
            <a:pPr marL="114300" indent="0">
              <a:buNone/>
            </a:pPr>
            <a:endParaRPr lang="en-US" sz="200" dirty="0"/>
          </a:p>
          <a:p>
            <a:pPr>
              <a:buFont typeface="Wingdings" panose="05000000000000000000" pitchFamily="2" charset="2"/>
              <a:buChar char="§"/>
            </a:pPr>
            <a:r>
              <a:rPr lang="en-US" sz="2000" b="1" dirty="0"/>
              <a:t>GitHub: </a:t>
            </a:r>
            <a:r>
              <a:rPr lang="en-IN" sz="2000" dirty="0" err="1">
                <a:hlinkClick r:id="rId4"/>
              </a:rPr>
              <a:t>Vijayalakshmibollapalli</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87F7822-19A0-D583-3D65-3BD872A59CF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47C3651-263C-AA71-3CA6-C2F99742847F}"/>
              </a:ext>
            </a:extLst>
          </p:cNvPr>
          <p:cNvSpPr txBox="1">
            <a:spLocks noGrp="1"/>
          </p:cNvSpPr>
          <p:nvPr>
            <p:ph type="title"/>
          </p:nvPr>
        </p:nvSpPr>
        <p:spPr>
          <a:xfrm>
            <a:off x="497230" y="-70212"/>
            <a:ext cx="10515600" cy="1325563"/>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b="1" i="1" u="sng" dirty="0">
                <a:solidFill>
                  <a:srgbClr val="FF0000"/>
                </a:solidFill>
              </a:rPr>
              <a:t>Agenda</a:t>
            </a:r>
            <a:endParaRPr b="1" u="sng" dirty="0">
              <a:solidFill>
                <a:srgbClr val="FF0000"/>
              </a:solidFill>
            </a:endParaRPr>
          </a:p>
        </p:txBody>
      </p:sp>
      <p:sp>
        <p:nvSpPr>
          <p:cNvPr id="111" name="Google Shape;111;p4">
            <a:extLst>
              <a:ext uri="{FF2B5EF4-FFF2-40B4-BE49-F238E27FC236}">
                <a16:creationId xmlns:a16="http://schemas.microsoft.com/office/drawing/2014/main" id="{29E77C24-CA39-3909-23EE-05B45C02FA9D}"/>
              </a:ext>
            </a:extLst>
          </p:cNvPr>
          <p:cNvSpPr txBox="1">
            <a:spLocks noGrp="1"/>
          </p:cNvSpPr>
          <p:nvPr>
            <p:ph type="body" idx="1"/>
          </p:nvPr>
        </p:nvSpPr>
        <p:spPr>
          <a:xfrm>
            <a:off x="1179170" y="843737"/>
            <a:ext cx="10515600" cy="4777234"/>
          </a:xfrm>
          <a:prstGeom prst="rect">
            <a:avLst/>
          </a:prstGeom>
          <a:noFill/>
          <a:ln>
            <a:noFill/>
          </a:ln>
        </p:spPr>
        <p:txBody>
          <a:bodyPr spcFirstLastPara="1" wrap="square" lIns="91425" tIns="45700" rIns="91425" bIns="45700" anchor="t" anchorCtr="0">
            <a:noAutofit/>
          </a:bodyPr>
          <a:lstStyle/>
          <a:p>
            <a:pPr marL="482600" indent="-457200">
              <a:buSzPts val="2400"/>
              <a:buFont typeface="Wingdings" panose="05000000000000000000" pitchFamily="2" charset="2"/>
              <a:buChar char="Ø"/>
            </a:pPr>
            <a:r>
              <a:rPr lang="en-US" sz="2200" b="1"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a:t>
            </a:r>
            <a:endPar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82600" indent="-457200">
              <a:buSzPts val="2400"/>
              <a:buFont typeface="Wingdings" panose="05000000000000000000" pitchFamily="2" charset="2"/>
              <a:buChar char="Ø"/>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Business Problem</a:t>
            </a:r>
            <a:endParaRPr lang="en-IN" sz="2200" b="1" dirty="0">
              <a:solidFill>
                <a:schemeClr val="tx1"/>
              </a:solidFill>
            </a:endParaRPr>
          </a:p>
          <a:p>
            <a:pPr marL="482600" indent="-457200">
              <a:buSzPts val="2400"/>
              <a:buFont typeface="Wingdings" panose="05000000000000000000" pitchFamily="2" charset="2"/>
              <a:buChar char="Ø"/>
            </a:pPr>
            <a:r>
              <a:rPr lang="en-IN" sz="2200" b="1" dirty="0">
                <a:solidFill>
                  <a:schemeClr val="tx1"/>
                </a:solidFill>
              </a:rPr>
              <a:t>Objective</a:t>
            </a:r>
          </a:p>
          <a:p>
            <a:pPr marL="482600" indent="-457200">
              <a:buSzPts val="2400"/>
              <a:buFont typeface="Wingdings" panose="05000000000000000000" pitchFamily="2" charset="2"/>
              <a:buChar char="Ø"/>
            </a:pPr>
            <a:r>
              <a:rPr lang="en-IN" sz="2200" b="1" dirty="0">
                <a:solidFill>
                  <a:schemeClr val="tx1"/>
                </a:solidFill>
              </a:rPr>
              <a:t>CRISP-ML(Q)</a:t>
            </a:r>
          </a:p>
          <a:p>
            <a:pPr marL="482600" indent="-457200">
              <a:buSzPts val="2400"/>
              <a:buFont typeface="Wingdings" panose="05000000000000000000" pitchFamily="2" charset="2"/>
              <a:buChar char="Ø"/>
            </a:pPr>
            <a:r>
              <a:rPr lang="en-IN" sz="2200" b="1" dirty="0"/>
              <a:t>Dataset Overview</a:t>
            </a:r>
            <a:endPar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82600" indent="-457200">
              <a:buSzPts val="2400"/>
              <a:buFont typeface="Wingdings" panose="05000000000000000000" pitchFamily="2" charset="2"/>
              <a:buChar char="Ø"/>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Data Preprocessing</a:t>
            </a:r>
          </a:p>
          <a:p>
            <a:pPr marL="482600" indent="-457200">
              <a:buSzPts val="2400"/>
              <a:buFont typeface="Wingdings" panose="05000000000000000000" pitchFamily="2" charset="2"/>
              <a:buChar char="Ø"/>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Model Building</a:t>
            </a:r>
          </a:p>
          <a:p>
            <a:pPr marL="482600" indent="-457200">
              <a:buSzPts val="2400"/>
              <a:buFont typeface="Wingdings" panose="05000000000000000000" pitchFamily="2" charset="2"/>
              <a:buChar char="Ø"/>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Model Selection</a:t>
            </a:r>
          </a:p>
          <a:p>
            <a:pPr marL="482600" indent="-457200">
              <a:buSzPts val="2400"/>
              <a:buFont typeface="Wingdings" panose="05000000000000000000" pitchFamily="2" charset="2"/>
              <a:buChar char="Ø"/>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Model Deployment</a:t>
            </a:r>
          </a:p>
          <a:p>
            <a:pPr indent="-431800">
              <a:buSzPts val="2400"/>
              <a:buFont typeface="Wingdings" panose="05000000000000000000" pitchFamily="2" charset="2"/>
              <a:buChar char="Ø"/>
            </a:pPr>
            <a:r>
              <a:rPr lang="en-IN" sz="2200" b="1" dirty="0">
                <a:solidFill>
                  <a:schemeClr val="tx1"/>
                </a:solidFill>
                <a:latin typeface="Calibri" panose="020F0502020204030204" pitchFamily="34" charset="0"/>
                <a:ea typeface="Calibri" panose="020F0502020204030204" pitchFamily="34" charset="0"/>
                <a:cs typeface="Calibri" panose="020F0502020204030204" pitchFamily="34" charset="0"/>
              </a:rPr>
              <a:t>Applications</a:t>
            </a:r>
          </a:p>
          <a:p>
            <a:pPr lvl="0" indent="-431800">
              <a:buSzPts val="2400"/>
              <a:buFont typeface="Wingdings" panose="05000000000000000000" pitchFamily="2" charset="2"/>
              <a:buChar char="Ø"/>
            </a:pPr>
            <a:r>
              <a:rPr lang="en-US" sz="2200" b="1" dirty="0">
                <a:solidFill>
                  <a:schemeClr val="tx1"/>
                </a:solidFill>
                <a:latin typeface="Calibri" panose="020F0502020204030204" pitchFamily="34" charset="0"/>
                <a:ea typeface="Calibri" panose="020F0502020204030204" pitchFamily="34" charset="0"/>
                <a:cs typeface="Calibri" panose="020F0502020204030204" pitchFamily="34" charset="0"/>
              </a:rPr>
              <a:t>Final Business Insights and Recommendations</a:t>
            </a:r>
          </a:p>
          <a:p>
            <a:pPr lvl="0" indent="-431800">
              <a:buSzPts val="2400"/>
              <a:buFont typeface="Wingdings" panose="05000000000000000000" pitchFamily="2" charset="2"/>
              <a:buChar char="Ø"/>
            </a:pPr>
            <a:r>
              <a:rPr lang="en-US" sz="2200" b="1" dirty="0">
                <a:solidFill>
                  <a:schemeClr val="tx1"/>
                </a:solidFill>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3316604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7D4628A-B3C8-48A0-EC14-EEAE5A551B7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F32FB12-DC9B-078A-2D00-6C092D754440}"/>
              </a:ext>
            </a:extLst>
          </p:cNvPr>
          <p:cNvSpPr txBox="1">
            <a:spLocks noGrp="1"/>
          </p:cNvSpPr>
          <p:nvPr>
            <p:ph type="title"/>
          </p:nvPr>
        </p:nvSpPr>
        <p:spPr>
          <a:xfrm>
            <a:off x="514306" y="376990"/>
            <a:ext cx="10515600" cy="669980"/>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Introduction</a:t>
            </a:r>
            <a:endParaRPr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1" name="Google Shape;111;p4">
            <a:extLst>
              <a:ext uri="{FF2B5EF4-FFF2-40B4-BE49-F238E27FC236}">
                <a16:creationId xmlns:a16="http://schemas.microsoft.com/office/drawing/2014/main" id="{15DB0F24-8BE8-9A58-7DFB-5807988488CB}"/>
              </a:ext>
            </a:extLst>
          </p:cNvPr>
          <p:cNvSpPr txBox="1">
            <a:spLocks noGrp="1"/>
          </p:cNvSpPr>
          <p:nvPr>
            <p:ph type="body" idx="1"/>
          </p:nvPr>
        </p:nvSpPr>
        <p:spPr>
          <a:xfrm>
            <a:off x="651387" y="1183020"/>
            <a:ext cx="10515600" cy="4993189"/>
          </a:xfrm>
          <a:prstGeom prst="rect">
            <a:avLst/>
          </a:prstGeom>
          <a:noFill/>
          <a:ln>
            <a:noFill/>
          </a:ln>
        </p:spPr>
        <p:txBody>
          <a:bodyPr spcFirstLastPara="1" wrap="square" lIns="91425" tIns="45700" rIns="91425" bIns="45700" anchor="t" anchorCtr="0">
            <a:noAutofit/>
          </a:bodyPr>
          <a:lstStyle/>
          <a:p>
            <a:pPr algn="just">
              <a:buFont typeface="Wingdings" panose="05000000000000000000" pitchFamily="2" charset="2"/>
              <a:buChar char="§"/>
            </a:pPr>
            <a:r>
              <a:rPr lang="en-US" sz="2200" dirty="0"/>
              <a:t>Flight ticket prices change frequently depending on factors such as airline, route, travel class, number of stops, travel time, and demand. Because of these price changes, customers often find it difficult to book tickets at the right time and at affordable prices. Airlines and travel companies also face challenges in deciding the correct ticket prices.</a:t>
            </a:r>
          </a:p>
          <a:p>
            <a:pPr marL="114300" indent="0" algn="just">
              <a:buNone/>
            </a:pPr>
            <a:endParaRPr lang="en-US" sz="500" dirty="0"/>
          </a:p>
          <a:p>
            <a:pPr algn="just">
              <a:buFont typeface="Wingdings" panose="05000000000000000000" pitchFamily="2" charset="2"/>
              <a:buChar char="§"/>
            </a:pPr>
            <a:r>
              <a:rPr lang="en-US" sz="2200" dirty="0"/>
              <a:t>This project aims to develop a Flight Ticket Price Prediction System using Machine Learning techniques. The system predicts ticket prices based on different flight details such as airline name, source, destination, duration, stops, and class type. Different machine learning algorithms are used and compared to identify the best model for accurate price prediction.</a:t>
            </a:r>
          </a:p>
        </p:txBody>
      </p:sp>
    </p:spTree>
    <p:extLst>
      <p:ext uri="{BB962C8B-B14F-4D97-AF65-F5344CB8AC3E}">
        <p14:creationId xmlns:p14="http://schemas.microsoft.com/office/powerpoint/2010/main" val="167503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6B9285A-0F35-DCB0-E1AD-C9BA7DA83CDF}"/>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4D5FDAD-3B92-DE50-844A-CA7A921CF7C0}"/>
              </a:ext>
            </a:extLst>
          </p:cNvPr>
          <p:cNvSpPr txBox="1">
            <a:spLocks noGrp="1"/>
          </p:cNvSpPr>
          <p:nvPr>
            <p:ph type="title"/>
          </p:nvPr>
        </p:nvSpPr>
        <p:spPr>
          <a:xfrm>
            <a:off x="553635" y="308087"/>
            <a:ext cx="10515600" cy="669980"/>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a:t>
            </a:r>
            <a:endParaRPr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1" name="Google Shape;111;p4">
            <a:extLst>
              <a:ext uri="{FF2B5EF4-FFF2-40B4-BE49-F238E27FC236}">
                <a16:creationId xmlns:a16="http://schemas.microsoft.com/office/drawing/2014/main" id="{9349F490-39C4-6090-8CFD-CE2C1C7BA217}"/>
              </a:ext>
            </a:extLst>
          </p:cNvPr>
          <p:cNvSpPr txBox="1">
            <a:spLocks noGrp="1"/>
          </p:cNvSpPr>
          <p:nvPr>
            <p:ph type="body" idx="1"/>
          </p:nvPr>
        </p:nvSpPr>
        <p:spPr>
          <a:xfrm>
            <a:off x="775251" y="1072732"/>
            <a:ext cx="10137237" cy="1695372"/>
          </a:xfrm>
          <a:prstGeom prst="rect">
            <a:avLst/>
          </a:prstGeom>
          <a:noFill/>
          <a:ln>
            <a:noFill/>
          </a:ln>
        </p:spPr>
        <p:txBody>
          <a:bodyPr spcFirstLastPara="1" wrap="square" lIns="91425" tIns="45700" rIns="91425" bIns="45700" anchor="t" anchorCtr="0">
            <a:noAutofit/>
          </a:bodyPr>
          <a:lstStyle/>
          <a:p>
            <a:pPr marL="114300" indent="0" algn="just">
              <a:buNone/>
            </a:pPr>
            <a:r>
              <a:rPr lang="en-US" sz="2200" dirty="0"/>
              <a:t>Airline companies and travel booking platforms face a major challenge because flight ticket prices keep changing frequently. Customers are often confused about when to book tickets, and many end up paying higher prices. At the same time, airlines may lose customers if ticket prices are too high or lose profit if prices are too low.</a:t>
            </a:r>
          </a:p>
          <a:p>
            <a:pPr marL="114300" indent="0" algn="just">
              <a:buNone/>
            </a:pPr>
            <a:endParaRPr lang="en-US" sz="500" dirty="0"/>
          </a:p>
          <a:p>
            <a:pPr marL="114300" indent="0">
              <a:buNone/>
            </a:pPr>
            <a:r>
              <a:rPr lang="en-US" sz="2200" dirty="0"/>
              <a:t>The main business problem is to predict flight ticket prices accurately so that:</a:t>
            </a:r>
          </a:p>
          <a:p>
            <a:pPr>
              <a:buFont typeface="Wingdings" panose="05000000000000000000" pitchFamily="2" charset="2"/>
              <a:buChar char="§"/>
            </a:pPr>
            <a:r>
              <a:rPr lang="en-US" sz="2200" dirty="0"/>
              <a:t>Customers can make better booking decisions</a:t>
            </a:r>
          </a:p>
          <a:p>
            <a:pPr>
              <a:buFont typeface="Wingdings" panose="05000000000000000000" pitchFamily="2" charset="2"/>
              <a:buChar char="§"/>
            </a:pPr>
            <a:r>
              <a:rPr lang="en-US" sz="2200" dirty="0"/>
              <a:t>Airlines can improve pricing strategies</a:t>
            </a:r>
          </a:p>
          <a:p>
            <a:pPr>
              <a:buFont typeface="Wingdings" panose="05000000000000000000" pitchFamily="2" charset="2"/>
              <a:buChar char="§"/>
            </a:pPr>
            <a:r>
              <a:rPr lang="en-US" sz="2200" dirty="0"/>
              <a:t>Travel companies can provide better price recommendations </a:t>
            </a:r>
          </a:p>
          <a:p>
            <a:pPr>
              <a:buFont typeface="Wingdings" panose="05000000000000000000" pitchFamily="2" charset="2"/>
              <a:buChar char="§"/>
            </a:pPr>
            <a:r>
              <a:rPr lang="en-US" sz="2200" dirty="0"/>
              <a:t>A smart prediction system can help both customers and businesses by providing data-driven price estimation.</a:t>
            </a:r>
          </a:p>
        </p:txBody>
      </p:sp>
    </p:spTree>
    <p:extLst>
      <p:ext uri="{BB962C8B-B14F-4D97-AF65-F5344CB8AC3E}">
        <p14:creationId xmlns:p14="http://schemas.microsoft.com/office/powerpoint/2010/main" val="276248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3160D08-0950-4CBD-14FE-B963EB403087}"/>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1B29B48-CCD9-67C6-B23A-5C2500ACED62}"/>
              </a:ext>
            </a:extLst>
          </p:cNvPr>
          <p:cNvSpPr txBox="1">
            <a:spLocks noGrp="1"/>
          </p:cNvSpPr>
          <p:nvPr>
            <p:ph type="title"/>
          </p:nvPr>
        </p:nvSpPr>
        <p:spPr>
          <a:xfrm>
            <a:off x="477566" y="235726"/>
            <a:ext cx="10515600" cy="881725"/>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600" b="1" i="1" u="sng" dirty="0">
                <a:solidFill>
                  <a:srgbClr val="FF0000"/>
                </a:solidFill>
              </a:rPr>
              <a:t>Objective</a:t>
            </a:r>
            <a:endParaRPr sz="3600" b="1" i="1" u="sng" dirty="0">
              <a:solidFill>
                <a:srgbClr val="FF0000"/>
              </a:solidFill>
            </a:endParaRPr>
          </a:p>
        </p:txBody>
      </p:sp>
      <p:sp>
        <p:nvSpPr>
          <p:cNvPr id="111" name="Google Shape;111;p4">
            <a:extLst>
              <a:ext uri="{FF2B5EF4-FFF2-40B4-BE49-F238E27FC236}">
                <a16:creationId xmlns:a16="http://schemas.microsoft.com/office/drawing/2014/main" id="{EEE0597C-526C-9D41-47BD-ABD1FA35B644}"/>
              </a:ext>
            </a:extLst>
          </p:cNvPr>
          <p:cNvSpPr txBox="1">
            <a:spLocks noGrp="1"/>
          </p:cNvSpPr>
          <p:nvPr>
            <p:ph type="body" idx="1"/>
          </p:nvPr>
        </p:nvSpPr>
        <p:spPr>
          <a:xfrm>
            <a:off x="953729" y="1117451"/>
            <a:ext cx="10282084" cy="4777234"/>
          </a:xfrm>
          <a:prstGeom prst="rect">
            <a:avLst/>
          </a:prstGeom>
          <a:noFill/>
          <a:ln>
            <a:noFill/>
          </a:ln>
        </p:spPr>
        <p:txBody>
          <a:bodyPr spcFirstLastPara="1" wrap="square" lIns="91425" tIns="45700" rIns="91425" bIns="45700" anchor="t" anchorCtr="0">
            <a:noAutofit/>
          </a:bodyPr>
          <a:lstStyle/>
          <a:p>
            <a:pPr marL="114300" indent="0">
              <a:buNone/>
            </a:pPr>
            <a:r>
              <a:rPr lang="en-US" sz="2000" dirty="0"/>
              <a:t>The main objectives of this project are:</a:t>
            </a:r>
          </a:p>
          <a:p>
            <a:pPr marL="114300" indent="0">
              <a:buNone/>
            </a:pPr>
            <a:endParaRPr lang="en-US" sz="100" dirty="0"/>
          </a:p>
          <a:p>
            <a:pPr>
              <a:buFont typeface="Wingdings" panose="05000000000000000000" pitchFamily="2" charset="2"/>
              <a:buChar char="§"/>
            </a:pPr>
            <a:r>
              <a:rPr lang="en-US" sz="2000" dirty="0"/>
              <a:t>To build a machine learning model that predicts flight ticket prices accurately. </a:t>
            </a:r>
          </a:p>
          <a:p>
            <a:pPr marL="114300" indent="0">
              <a:buNone/>
            </a:pPr>
            <a:endParaRPr lang="en-US" sz="100" dirty="0"/>
          </a:p>
          <a:p>
            <a:pPr>
              <a:buFont typeface="Wingdings" panose="05000000000000000000" pitchFamily="2" charset="2"/>
              <a:buChar char="§"/>
            </a:pPr>
            <a:r>
              <a:rPr lang="en-US" sz="2000" dirty="0"/>
              <a:t>To analyze how factors such as airline, route, duration, stops, and class affect ticket prices. </a:t>
            </a:r>
          </a:p>
          <a:p>
            <a:pPr marL="114300" indent="0">
              <a:buNone/>
            </a:pPr>
            <a:endParaRPr lang="en-US" sz="100" dirty="0"/>
          </a:p>
          <a:p>
            <a:pPr>
              <a:buFont typeface="Wingdings" panose="05000000000000000000" pitchFamily="2" charset="2"/>
              <a:buChar char="§"/>
            </a:pPr>
            <a:r>
              <a:rPr lang="en-US" sz="2000" dirty="0"/>
              <a:t>To compare multiple machine learning algorithms and select the best-performing model. </a:t>
            </a:r>
          </a:p>
          <a:p>
            <a:pPr marL="114300" indent="0">
              <a:buNone/>
            </a:pPr>
            <a:endParaRPr lang="en-US" sz="100" dirty="0"/>
          </a:p>
          <a:p>
            <a:pPr>
              <a:buFont typeface="Wingdings" panose="05000000000000000000" pitchFamily="2" charset="2"/>
              <a:buChar char="§"/>
            </a:pPr>
            <a:r>
              <a:rPr lang="en-US" sz="2000" dirty="0"/>
              <a:t>To help customers identify better ticket prices before booking.</a:t>
            </a:r>
          </a:p>
          <a:p>
            <a:pPr marL="114300" indent="0">
              <a:buNone/>
            </a:pPr>
            <a:endParaRPr lang="en-US" sz="100" dirty="0"/>
          </a:p>
          <a:p>
            <a:pPr>
              <a:buFont typeface="Wingdings" panose="05000000000000000000" pitchFamily="2" charset="2"/>
              <a:buChar char="§"/>
            </a:pPr>
            <a:r>
              <a:rPr lang="en-US" sz="2000" dirty="0"/>
              <a:t>To support airlines and travel platforms in implementing intelligent pricing strategies. </a:t>
            </a:r>
          </a:p>
        </p:txBody>
      </p:sp>
    </p:spTree>
    <p:extLst>
      <p:ext uri="{BB962C8B-B14F-4D97-AF65-F5344CB8AC3E}">
        <p14:creationId xmlns:p14="http://schemas.microsoft.com/office/powerpoint/2010/main" val="105345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EDCC52A-163A-DCCE-A725-2BCB225A0AC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CDA2180E-82D1-1A87-16DC-BF6ACFC09ACC}"/>
              </a:ext>
            </a:extLst>
          </p:cNvPr>
          <p:cNvSpPr txBox="1">
            <a:spLocks noGrp="1"/>
          </p:cNvSpPr>
          <p:nvPr>
            <p:ph type="title"/>
          </p:nvPr>
        </p:nvSpPr>
        <p:spPr>
          <a:xfrm>
            <a:off x="477566" y="235726"/>
            <a:ext cx="10515600" cy="881725"/>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600" b="1" i="1" u="sng" dirty="0">
                <a:solidFill>
                  <a:srgbClr val="FF0000"/>
                </a:solidFill>
              </a:rPr>
              <a:t>CRISP-ML(Q) Methodology</a:t>
            </a:r>
            <a:endParaRPr sz="3600" b="1" i="1" u="sng" dirty="0">
              <a:solidFill>
                <a:srgbClr val="FF0000"/>
              </a:solidFill>
            </a:endParaRPr>
          </a:p>
        </p:txBody>
      </p:sp>
      <p:sp>
        <p:nvSpPr>
          <p:cNvPr id="111" name="Google Shape;111;p4">
            <a:extLst>
              <a:ext uri="{FF2B5EF4-FFF2-40B4-BE49-F238E27FC236}">
                <a16:creationId xmlns:a16="http://schemas.microsoft.com/office/drawing/2014/main" id="{175F207C-41A6-F2E2-E389-FB8D606529FB}"/>
              </a:ext>
            </a:extLst>
          </p:cNvPr>
          <p:cNvSpPr txBox="1">
            <a:spLocks noGrp="1"/>
          </p:cNvSpPr>
          <p:nvPr>
            <p:ph type="body" idx="1"/>
          </p:nvPr>
        </p:nvSpPr>
        <p:spPr>
          <a:xfrm>
            <a:off x="821803" y="944511"/>
            <a:ext cx="9833707" cy="5453014"/>
          </a:xfrm>
          <a:prstGeom prst="rect">
            <a:avLst/>
          </a:prstGeom>
          <a:noFill/>
          <a:ln>
            <a:noFill/>
          </a:ln>
        </p:spPr>
        <p:txBody>
          <a:bodyPr spcFirstLastPara="1" wrap="square" lIns="91425" tIns="45700" rIns="91425" bIns="45700" anchor="t" anchorCtr="0">
            <a:noAutofit/>
          </a:bodyPr>
          <a:lstStyle/>
          <a:p>
            <a:pPr marL="25400" indent="0">
              <a:buClr>
                <a:srgbClr val="FF0000"/>
              </a:buClr>
              <a:buSzPts val="2400"/>
              <a:buNone/>
            </a:pPr>
            <a:r>
              <a:rPr lang="en-US" sz="2200" b="1" dirty="0"/>
              <a:t>CRISP-ML(Q)</a:t>
            </a:r>
            <a:r>
              <a:rPr lang="en-US" sz="2200" dirty="0"/>
              <a:t> is a framework used for machine learning project development.</a:t>
            </a:r>
            <a:endParaRPr lang="en-IN" sz="2200" b="1" dirty="0">
              <a:solidFill>
                <a:srgbClr val="FF0000"/>
              </a:solidFill>
            </a:endParaRPr>
          </a:p>
          <a:p>
            <a:pPr marL="571500" indent="-457200">
              <a:buFont typeface="+mj-lt"/>
              <a:buAutoNum type="arabicPeriod"/>
            </a:pPr>
            <a:r>
              <a:rPr lang="en-US" sz="2200" b="1" dirty="0"/>
              <a:t>Business and Data Understanding</a:t>
            </a:r>
            <a:br>
              <a:rPr lang="en-US" sz="2200" dirty="0"/>
            </a:br>
            <a:r>
              <a:rPr lang="en-US" sz="2200" dirty="0"/>
              <a:t>Identify the problem and understand the dataset. </a:t>
            </a:r>
          </a:p>
          <a:p>
            <a:pPr marL="571500" indent="-457200">
              <a:buFont typeface="+mj-lt"/>
              <a:buAutoNum type="arabicPeriod"/>
            </a:pPr>
            <a:r>
              <a:rPr lang="en-US" sz="2200" b="1" dirty="0"/>
              <a:t>Data Preparation</a:t>
            </a:r>
          </a:p>
          <a:p>
            <a:pPr marL="114300" indent="0">
              <a:buNone/>
            </a:pPr>
            <a:r>
              <a:rPr lang="en-US" sz="2200" b="1" dirty="0"/>
              <a:t>        </a:t>
            </a:r>
            <a:r>
              <a:rPr lang="en-US" sz="2200" dirty="0"/>
              <a:t>Clean and transform the data. </a:t>
            </a:r>
          </a:p>
          <a:p>
            <a:pPr marL="571500" indent="-457200">
              <a:buFont typeface="+mj-lt"/>
              <a:buAutoNum type="arabicPeriod" startAt="3"/>
            </a:pPr>
            <a:r>
              <a:rPr lang="en-US" sz="2200" b="1" dirty="0"/>
              <a:t>Modeling </a:t>
            </a:r>
            <a:r>
              <a:rPr lang="en-IN" sz="2200" b="1" dirty="0"/>
              <a:t>Learning</a:t>
            </a:r>
            <a:br>
              <a:rPr lang="en-US" sz="2200" dirty="0"/>
            </a:br>
            <a:r>
              <a:rPr lang="en-US" sz="2200" dirty="0"/>
              <a:t>Train the machine learning model. </a:t>
            </a:r>
          </a:p>
          <a:p>
            <a:pPr marL="571500" indent="-457200">
              <a:buFont typeface="+mj-lt"/>
              <a:buAutoNum type="arabicPeriod" startAt="4"/>
            </a:pPr>
            <a:r>
              <a:rPr lang="en-US" sz="2200" b="1" dirty="0"/>
              <a:t>Model Evaluation</a:t>
            </a:r>
          </a:p>
          <a:p>
            <a:pPr marL="114300" indent="0">
              <a:buNone/>
            </a:pPr>
            <a:r>
              <a:rPr lang="en-US" sz="2200" dirty="0"/>
              <a:t>        </a:t>
            </a:r>
            <a:r>
              <a:rPr lang="en-IN" sz="2200" dirty="0"/>
              <a:t>Test the model performance. </a:t>
            </a:r>
            <a:endParaRPr lang="en-US" sz="2200" dirty="0"/>
          </a:p>
          <a:p>
            <a:pPr marL="571500" indent="-457200">
              <a:buFont typeface="+mj-lt"/>
              <a:buAutoNum type="arabicPeriod" startAt="5"/>
            </a:pPr>
            <a:r>
              <a:rPr lang="en-US" sz="2200" b="1" dirty="0"/>
              <a:t>Model Deployment</a:t>
            </a:r>
            <a:endParaRPr lang="en-US" sz="2200" dirty="0"/>
          </a:p>
          <a:p>
            <a:pPr marL="114300" indent="0">
              <a:buNone/>
            </a:pPr>
            <a:r>
              <a:rPr lang="en-US" sz="2200" dirty="0"/>
              <a:t>        Implement the model in a real system.</a:t>
            </a:r>
          </a:p>
          <a:p>
            <a:pPr marL="571500" indent="-457200">
              <a:buFont typeface="+mj-lt"/>
              <a:buAutoNum type="arabicPeriod" startAt="6"/>
            </a:pPr>
            <a:r>
              <a:rPr lang="en-US" sz="2200" b="1" dirty="0"/>
              <a:t>Monitoring &amp; Maintenance</a:t>
            </a:r>
            <a:endParaRPr lang="en-US" sz="2200" dirty="0"/>
          </a:p>
          <a:p>
            <a:pPr marL="114300" indent="0">
              <a:buNone/>
            </a:pPr>
            <a:r>
              <a:rPr lang="en-US" sz="2200" dirty="0"/>
              <a:t>        Continuously check and improve the model.</a:t>
            </a:r>
          </a:p>
        </p:txBody>
      </p:sp>
      <p:pic>
        <p:nvPicPr>
          <p:cNvPr id="5122" name="Picture 2">
            <a:extLst>
              <a:ext uri="{FF2B5EF4-FFF2-40B4-BE49-F238E27FC236}">
                <a16:creationId xmlns:a16="http://schemas.microsoft.com/office/drawing/2014/main" id="{A4B397C3-BDE8-3389-F8D0-3C149FD4D7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51" t="2826" r="5019" b="3491"/>
          <a:stretch>
            <a:fillRect/>
          </a:stretch>
        </p:blipFill>
        <p:spPr bwMode="auto">
          <a:xfrm>
            <a:off x="7244733" y="1684599"/>
            <a:ext cx="3943915" cy="3972839"/>
          </a:xfrm>
          <a:prstGeom prst="flowChartConnector">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38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1AEBB70-327C-174D-CC3C-53815393AF0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FFFA44F-BC69-E794-10ED-8E5AA605AA6F}"/>
              </a:ext>
            </a:extLst>
          </p:cNvPr>
          <p:cNvSpPr txBox="1"/>
          <p:nvPr/>
        </p:nvSpPr>
        <p:spPr>
          <a:xfrm>
            <a:off x="4472125" y="91834"/>
            <a:ext cx="6096000" cy="584775"/>
          </a:xfrm>
          <a:prstGeom prst="rect">
            <a:avLst/>
          </a:prstGeom>
          <a:noFill/>
        </p:spPr>
        <p:txBody>
          <a:bodyPr wrap="square">
            <a:spAutoFit/>
          </a:bodyPr>
          <a:lstStyle/>
          <a:p>
            <a:r>
              <a:rPr lang="en-IN" sz="32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1. Data Set Overview</a:t>
            </a:r>
          </a:p>
        </p:txBody>
      </p:sp>
      <p:sp>
        <p:nvSpPr>
          <p:cNvPr id="3" name="TextBox 2">
            <a:extLst>
              <a:ext uri="{FF2B5EF4-FFF2-40B4-BE49-F238E27FC236}">
                <a16:creationId xmlns:a16="http://schemas.microsoft.com/office/drawing/2014/main" id="{3D0E33C8-C79F-382F-5596-A1E3AD792532}"/>
              </a:ext>
            </a:extLst>
          </p:cNvPr>
          <p:cNvSpPr txBox="1"/>
          <p:nvPr/>
        </p:nvSpPr>
        <p:spPr>
          <a:xfrm>
            <a:off x="7682519" y="4642444"/>
            <a:ext cx="4194313" cy="1542089"/>
          </a:xfrm>
          <a:prstGeom prst="rect">
            <a:avLst/>
          </a:prstGeom>
          <a:noFill/>
        </p:spPr>
        <p:txBody>
          <a:bodyPr wrap="square">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Dataset Size</a:t>
            </a:r>
          </a:p>
          <a:p>
            <a:endParaRPr lang="en-US" sz="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Business Dataset Records: 93,487 </a:t>
            </a:r>
          </a:p>
          <a:p>
            <a:pPr marL="285750" indent="-28575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Economy Dataset Records: 206,774 </a:t>
            </a:r>
          </a:p>
          <a:p>
            <a:pPr marL="285750" indent="-285750">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Calibri" panose="020F0502020204030204" pitchFamily="34" charset="0"/>
              </a:rPr>
              <a:t>Total Combined Records: 300,261 </a:t>
            </a:r>
            <a:endParaRPr lang="en-IN" sz="1600" b="1"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IN" sz="1600" b="1" dirty="0">
                <a:latin typeface="Calibri" panose="020F0502020204030204" pitchFamily="34" charset="0"/>
                <a:ea typeface="Calibri" panose="020F0502020204030204" pitchFamily="34" charset="0"/>
                <a:cs typeface="Calibri" panose="020F0502020204030204" pitchFamily="34" charset="0"/>
              </a:rPr>
              <a:t>Total Columns: 11</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C1355EC-C5A5-88B8-1314-7CD6EB64B6D3}"/>
              </a:ext>
            </a:extLst>
          </p:cNvPr>
          <p:cNvSpPr txBox="1"/>
          <p:nvPr/>
        </p:nvSpPr>
        <p:spPr>
          <a:xfrm>
            <a:off x="394681" y="4712018"/>
            <a:ext cx="7964128" cy="1877437"/>
          </a:xfrm>
          <a:prstGeom prst="rect">
            <a:avLst/>
          </a:prstGeom>
          <a:noFill/>
        </p:spPr>
        <p:txBody>
          <a:bodyPr wrap="square">
            <a:spAutoFit/>
          </a:bodyPr>
          <a:lstStyle/>
          <a:p>
            <a:pPr marL="342900" indent="-34290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Flight Information Features : </a:t>
            </a:r>
            <a:r>
              <a:rPr lang="en-US" sz="1600" dirty="0">
                <a:latin typeface="Calibri" panose="020F0502020204030204" pitchFamily="34" charset="0"/>
                <a:ea typeface="Calibri" panose="020F0502020204030204" pitchFamily="34" charset="0"/>
                <a:cs typeface="Calibri" panose="020F0502020204030204" pitchFamily="34" charset="0"/>
              </a:rPr>
              <a:t>airline, </a:t>
            </a:r>
            <a:r>
              <a:rPr lang="en-US" sz="1600" dirty="0" err="1">
                <a:latin typeface="Calibri" panose="020F0502020204030204" pitchFamily="34" charset="0"/>
                <a:ea typeface="Calibri" panose="020F0502020204030204" pitchFamily="34" charset="0"/>
                <a:cs typeface="Calibri" panose="020F0502020204030204" pitchFamily="34" charset="0"/>
              </a:rPr>
              <a:t>ch_code</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num_code</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flight_code</a:t>
            </a: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500" b="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Route / Travel Features: </a:t>
            </a:r>
            <a:r>
              <a:rPr lang="en-US" sz="1600" dirty="0">
                <a:latin typeface="Calibri" panose="020F0502020204030204" pitchFamily="34" charset="0"/>
                <a:ea typeface="Calibri" panose="020F0502020204030204" pitchFamily="34" charset="0"/>
                <a:cs typeface="Calibri" panose="020F0502020204030204" pitchFamily="34" charset="0"/>
              </a:rPr>
              <a:t>source, destination, stop, class</a:t>
            </a:r>
          </a:p>
          <a:p>
            <a:endParaRPr lang="en-US" sz="500" b="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Time-Based Features: </a:t>
            </a:r>
            <a:r>
              <a:rPr lang="en-US" sz="1600" dirty="0">
                <a:latin typeface="Calibri" panose="020F0502020204030204" pitchFamily="34" charset="0"/>
                <a:ea typeface="Calibri" panose="020F0502020204030204" pitchFamily="34" charset="0"/>
                <a:cs typeface="Calibri" panose="020F0502020204030204" pitchFamily="34" charset="0"/>
              </a:rPr>
              <a:t>date, </a:t>
            </a:r>
            <a:r>
              <a:rPr lang="en-US" sz="1600" dirty="0" err="1">
                <a:latin typeface="Calibri" panose="020F0502020204030204" pitchFamily="34" charset="0"/>
                <a:ea typeface="Calibri" panose="020F0502020204030204" pitchFamily="34" charset="0"/>
                <a:cs typeface="Calibri" panose="020F0502020204030204" pitchFamily="34" charset="0"/>
              </a:rPr>
              <a:t>month_name</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day_type</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dep_time</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departure_hour</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departure_min</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arr_time</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arrival_hour</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arrival_min</a:t>
            </a:r>
            <a:endParaRPr lang="en-US" sz="1600" dirty="0">
              <a:latin typeface="Calibri" panose="020F0502020204030204" pitchFamily="34" charset="0"/>
              <a:ea typeface="Calibri" panose="020F0502020204030204" pitchFamily="34" charset="0"/>
              <a:cs typeface="Calibri" panose="020F0502020204030204" pitchFamily="34" charset="0"/>
            </a:endParaRPr>
          </a:p>
          <a:p>
            <a:endParaRPr lang="en-US" sz="500" b="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Duration Features: </a:t>
            </a:r>
            <a:r>
              <a:rPr lang="en-US" sz="1600" dirty="0" err="1">
                <a:latin typeface="Calibri" panose="020F0502020204030204" pitchFamily="34" charset="0"/>
                <a:ea typeface="Calibri" panose="020F0502020204030204" pitchFamily="34" charset="0"/>
                <a:cs typeface="Calibri" panose="020F0502020204030204" pitchFamily="34" charset="0"/>
              </a:rPr>
              <a:t>time_taken</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duration_mins</a:t>
            </a:r>
            <a:endParaRPr lang="en-US" sz="1600" dirty="0">
              <a:latin typeface="Calibri" panose="020F0502020204030204" pitchFamily="34" charset="0"/>
              <a:ea typeface="Calibri" panose="020F0502020204030204" pitchFamily="34" charset="0"/>
              <a:cs typeface="Calibri" panose="020F0502020204030204" pitchFamily="34" charset="0"/>
            </a:endParaRPr>
          </a:p>
          <a:p>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600" b="1" dirty="0">
                <a:latin typeface="Calibri" panose="020F0502020204030204" pitchFamily="34" charset="0"/>
                <a:ea typeface="Calibri" panose="020F0502020204030204" pitchFamily="34" charset="0"/>
                <a:cs typeface="Calibri" panose="020F0502020204030204" pitchFamily="34" charset="0"/>
              </a:rPr>
              <a:t>Target Variable: </a:t>
            </a:r>
            <a:r>
              <a:rPr lang="en-US" sz="1600" dirty="0">
                <a:latin typeface="Calibri" panose="020F0502020204030204" pitchFamily="34" charset="0"/>
                <a:ea typeface="Calibri" panose="020F0502020204030204" pitchFamily="34" charset="0"/>
                <a:cs typeface="Calibri" panose="020F0502020204030204" pitchFamily="34" charset="0"/>
              </a:rPr>
              <a:t>price</a:t>
            </a:r>
          </a:p>
        </p:txBody>
      </p:sp>
      <p:pic>
        <p:nvPicPr>
          <p:cNvPr id="5" name="Picture 4">
            <a:extLst>
              <a:ext uri="{FF2B5EF4-FFF2-40B4-BE49-F238E27FC236}">
                <a16:creationId xmlns:a16="http://schemas.microsoft.com/office/drawing/2014/main" id="{F81C5AC6-4C01-0920-A48E-BBD79AD67224}"/>
              </a:ext>
            </a:extLst>
          </p:cNvPr>
          <p:cNvPicPr>
            <a:picLocks noChangeAspect="1"/>
          </p:cNvPicPr>
          <p:nvPr/>
        </p:nvPicPr>
        <p:blipFill>
          <a:blip r:embed="rId3"/>
          <a:stretch>
            <a:fillRect/>
          </a:stretch>
        </p:blipFill>
        <p:spPr>
          <a:xfrm>
            <a:off x="532733" y="723879"/>
            <a:ext cx="10882303" cy="3871295"/>
          </a:xfrm>
          <a:prstGeom prst="rect">
            <a:avLst/>
          </a:prstGeom>
        </p:spPr>
      </p:pic>
    </p:spTree>
    <p:extLst>
      <p:ext uri="{BB962C8B-B14F-4D97-AF65-F5344CB8AC3E}">
        <p14:creationId xmlns:p14="http://schemas.microsoft.com/office/powerpoint/2010/main" val="1833723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FC4918B-009C-3C90-D346-21B4E66357D3}"/>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9307A3A-B41D-EDDF-5001-AD9EBF08AA65}"/>
              </a:ext>
            </a:extLst>
          </p:cNvPr>
          <p:cNvSpPr txBox="1">
            <a:spLocks noGrp="1"/>
          </p:cNvSpPr>
          <p:nvPr>
            <p:ph type="title"/>
          </p:nvPr>
        </p:nvSpPr>
        <p:spPr>
          <a:xfrm>
            <a:off x="532937" y="0"/>
            <a:ext cx="10515600" cy="881725"/>
          </a:xfrm>
          <a:prstGeom prst="rect">
            <a:avLst/>
          </a:prstGeom>
          <a:noFill/>
          <a:ln>
            <a:noFill/>
          </a:ln>
        </p:spPr>
        <p:txBody>
          <a:bodyPr spcFirstLastPara="1" wrap="square" lIns="91425" tIns="45700" rIns="91425" bIns="45700" anchor="ctr" anchorCtr="0">
            <a:normAutofit/>
          </a:bodyPr>
          <a:lstStyle/>
          <a:p>
            <a:pPr algn="ctr">
              <a:buClr>
                <a:srgbClr val="FF0000"/>
              </a:buClr>
              <a:buSzPts val="4400"/>
            </a:pPr>
            <a:r>
              <a:rPr lang="en-IN" sz="3200" b="1" i="1" u="sng" dirty="0">
                <a:solidFill>
                  <a:srgbClr val="FF0000"/>
                </a:solidFill>
              </a:rPr>
              <a:t>2. DATA Preprocessing</a:t>
            </a:r>
            <a:endParaRPr sz="3200" b="1" i="1" u="sng" dirty="0">
              <a:solidFill>
                <a:srgbClr val="FF0000"/>
              </a:solidFill>
            </a:endParaRPr>
          </a:p>
        </p:txBody>
      </p:sp>
      <p:sp>
        <p:nvSpPr>
          <p:cNvPr id="3" name="TextBox 2">
            <a:extLst>
              <a:ext uri="{FF2B5EF4-FFF2-40B4-BE49-F238E27FC236}">
                <a16:creationId xmlns:a16="http://schemas.microsoft.com/office/drawing/2014/main" id="{CB4E2FCE-BDDD-5447-A9E4-90189526CF25}"/>
              </a:ext>
            </a:extLst>
          </p:cNvPr>
          <p:cNvSpPr txBox="1"/>
          <p:nvPr/>
        </p:nvSpPr>
        <p:spPr>
          <a:xfrm>
            <a:off x="698732" y="882149"/>
            <a:ext cx="11715241" cy="5355312"/>
          </a:xfrm>
          <a:prstGeom prst="rect">
            <a:avLst/>
          </a:prstGeom>
          <a:noFill/>
        </p:spPr>
        <p:txBody>
          <a:bodyPr wrap="square">
            <a:spAutoFit/>
          </a:bodyPr>
          <a:lstStyle/>
          <a:p>
            <a:pPr marL="285750" indent="-28575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Data Cleaning &amp; Preparation</a:t>
            </a:r>
          </a:p>
          <a:p>
            <a:endParaRPr lang="en-US" sz="3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Combined Economy and Business datasets into a single dataset </a:t>
            </a:r>
          </a:p>
          <a:p>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Added a new column: </a:t>
            </a:r>
            <a:r>
              <a:rPr lang="en-US" sz="1800" dirty="0">
                <a:latin typeface="Calibri" panose="020F0502020204030204" pitchFamily="34" charset="0"/>
                <a:ea typeface="Calibri" panose="020F0502020204030204" pitchFamily="34" charset="0"/>
                <a:cs typeface="Calibri" panose="020F0502020204030204" pitchFamily="34" charset="0"/>
              </a:rPr>
              <a:t>class </a:t>
            </a:r>
          </a:p>
          <a:p>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Removed unnecessary columns:</a:t>
            </a:r>
            <a:r>
              <a:rPr lang="en-US" sz="1800" dirty="0">
                <a:latin typeface="Calibri" panose="020F0502020204030204" pitchFamily="34" charset="0"/>
                <a:ea typeface="Calibri" panose="020F0502020204030204" pitchFamily="34" charset="0"/>
                <a:cs typeface="Calibri" panose="020F0502020204030204" pitchFamily="34" charset="0"/>
              </a:rPr>
              <a:t> date, </a:t>
            </a:r>
            <a:r>
              <a:rPr lang="en-US" sz="1800" dirty="0" err="1">
                <a:latin typeface="Calibri" panose="020F0502020204030204" pitchFamily="34" charset="0"/>
                <a:ea typeface="Calibri" panose="020F0502020204030204" pitchFamily="34" charset="0"/>
                <a:cs typeface="Calibri" panose="020F0502020204030204" pitchFamily="34" charset="0"/>
              </a:rPr>
              <a:t>dep_time</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arr_time</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ch_code</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num_code</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time_taken</a:t>
            </a: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300" dirty="0">
              <a:latin typeface="Calibri" panose="020F0502020204030204" pitchFamily="34" charset="0"/>
              <a:ea typeface="Calibri" panose="020F0502020204030204" pitchFamily="34" charset="0"/>
              <a:cs typeface="Calibri" panose="020F0502020204030204" pitchFamily="34" charset="0"/>
            </a:endParaRPr>
          </a:p>
          <a:p>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Separated:  </a:t>
            </a:r>
            <a:r>
              <a:rPr lang="en-US" sz="1800" dirty="0">
                <a:latin typeface="Calibri" panose="020F0502020204030204" pitchFamily="34" charset="0"/>
                <a:ea typeface="Calibri" panose="020F0502020204030204" pitchFamily="34" charset="0"/>
                <a:cs typeface="Calibri" panose="020F0502020204030204" pitchFamily="34" charset="0"/>
              </a:rPr>
              <a:t>Features (X) and Target (y) </a:t>
            </a:r>
          </a:p>
          <a:p>
            <a:endParaRPr lang="en-US" sz="6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Feature Engineering</a:t>
            </a:r>
          </a:p>
          <a:p>
            <a:endParaRPr lang="en-US" sz="3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Created: </a:t>
            </a:r>
            <a:r>
              <a:rPr lang="en-US" sz="1800" b="1" dirty="0" err="1">
                <a:latin typeface="Calibri" panose="020F0502020204030204" pitchFamily="34" charset="0"/>
                <a:ea typeface="Calibri" panose="020F0502020204030204" pitchFamily="34" charset="0"/>
                <a:cs typeface="Calibri" panose="020F0502020204030204" pitchFamily="34" charset="0"/>
              </a:rPr>
              <a:t>day_type</a:t>
            </a:r>
            <a:r>
              <a:rPr lang="en-US" sz="1800" dirty="0">
                <a:latin typeface="Calibri" panose="020F0502020204030204" pitchFamily="34" charset="0"/>
                <a:ea typeface="Calibri" panose="020F0502020204030204" pitchFamily="34" charset="0"/>
                <a:cs typeface="Calibri" panose="020F0502020204030204" pitchFamily="34" charset="0"/>
              </a:rPr>
              <a:t> (weekday/weekend), </a:t>
            </a:r>
            <a:r>
              <a:rPr lang="en-US" sz="1800" b="1" dirty="0" err="1">
                <a:latin typeface="Calibri" panose="020F0502020204030204" pitchFamily="34" charset="0"/>
                <a:ea typeface="Calibri" panose="020F0502020204030204" pitchFamily="34" charset="0"/>
                <a:cs typeface="Calibri" panose="020F0502020204030204" pitchFamily="34" charset="0"/>
              </a:rPr>
              <a:t>month_name</a:t>
            </a:r>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800" b="1" dirty="0" err="1">
                <a:latin typeface="Calibri" panose="020F0502020204030204" pitchFamily="34" charset="0"/>
                <a:ea typeface="Calibri" panose="020F0502020204030204" pitchFamily="34" charset="0"/>
                <a:cs typeface="Calibri" panose="020F0502020204030204" pitchFamily="34" charset="0"/>
              </a:rPr>
              <a:t>flight_code</a:t>
            </a:r>
            <a:endParaRPr lang="en-US" sz="1800" b="1" dirty="0">
              <a:latin typeface="Calibri" panose="020F0502020204030204" pitchFamily="34" charset="0"/>
              <a:ea typeface="Calibri" panose="020F0502020204030204" pitchFamily="34" charset="0"/>
              <a:cs typeface="Calibri" panose="020F0502020204030204" pitchFamily="34" charset="0"/>
            </a:endParaRPr>
          </a:p>
          <a:p>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           Extracted: </a:t>
            </a:r>
          </a:p>
          <a:p>
            <a:endParaRPr lang="en-US" sz="300" b="1"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departure hour and minute </a:t>
            </a:r>
          </a:p>
          <a:p>
            <a:pPr lvl="1"/>
            <a:endParaRPr lang="en-US" sz="3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arrival hour and minute </a:t>
            </a:r>
          </a:p>
          <a:p>
            <a:pPr lvl="1"/>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Converted journey duration into: </a:t>
            </a:r>
            <a:r>
              <a:rPr lang="en-US" sz="1800" dirty="0" err="1">
                <a:latin typeface="Calibri" panose="020F0502020204030204" pitchFamily="34" charset="0"/>
                <a:ea typeface="Calibri" panose="020F0502020204030204" pitchFamily="34" charset="0"/>
                <a:cs typeface="Calibri" panose="020F0502020204030204" pitchFamily="34" charset="0"/>
              </a:rPr>
              <a:t>duration_mins</a:t>
            </a:r>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Converted: stop</a:t>
            </a:r>
            <a:r>
              <a:rPr lang="en-US" sz="1800" dirty="0">
                <a:latin typeface="Calibri" panose="020F0502020204030204" pitchFamily="34" charset="0"/>
                <a:ea typeface="Calibri" panose="020F0502020204030204" pitchFamily="34" charset="0"/>
                <a:cs typeface="Calibri" panose="020F0502020204030204" pitchFamily="34" charset="0"/>
              </a:rPr>
              <a:t> into numerical format </a:t>
            </a:r>
          </a:p>
          <a:p>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           Renamed:  </a:t>
            </a:r>
            <a:r>
              <a:rPr lang="en-US" sz="1800" dirty="0">
                <a:latin typeface="Calibri" panose="020F0502020204030204" pitchFamily="34" charset="0"/>
                <a:ea typeface="Calibri" panose="020F0502020204030204" pitchFamily="34" charset="0"/>
                <a:cs typeface="Calibri" panose="020F0502020204030204" pitchFamily="34" charset="0"/>
              </a:rPr>
              <a:t>from → source, to → destination </a:t>
            </a:r>
          </a:p>
          <a:p>
            <a:endParaRPr lang="en-IN" sz="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IN" sz="1800" b="1" dirty="0">
                <a:latin typeface="Calibri" panose="020F0502020204030204" pitchFamily="34" charset="0"/>
                <a:ea typeface="Calibri" panose="020F0502020204030204" pitchFamily="34" charset="0"/>
                <a:cs typeface="Calibri" panose="020F0502020204030204" pitchFamily="34" charset="0"/>
              </a:rPr>
              <a:t>Encode Categorical Variables</a:t>
            </a:r>
          </a:p>
          <a:p>
            <a:endParaRPr lang="en-IN" sz="300" b="1" dirty="0">
              <a:latin typeface="Calibri" panose="020F0502020204030204" pitchFamily="34" charset="0"/>
              <a:ea typeface="Calibri" panose="020F0502020204030204" pitchFamily="34" charset="0"/>
              <a:cs typeface="Calibri" panose="020F0502020204030204" pitchFamily="34" charset="0"/>
            </a:endParaRPr>
          </a:p>
          <a:p>
            <a:r>
              <a:rPr lang="en-IN" sz="1800" b="1" dirty="0">
                <a:latin typeface="Calibri" panose="020F0502020204030204" pitchFamily="34" charset="0"/>
                <a:ea typeface="Calibri" panose="020F0502020204030204" pitchFamily="34" charset="0"/>
                <a:cs typeface="Calibri" panose="020F0502020204030204" pitchFamily="34" charset="0"/>
              </a:rPr>
              <a:t>           One Hot Encoding (Nominal Columns): </a:t>
            </a:r>
            <a:r>
              <a:rPr lang="en-IN" sz="1800" dirty="0">
                <a:latin typeface="Calibri" panose="020F0502020204030204" pitchFamily="34" charset="0"/>
                <a:ea typeface="Calibri" panose="020F0502020204030204" pitchFamily="34" charset="0"/>
                <a:cs typeface="Calibri" panose="020F0502020204030204" pitchFamily="34" charset="0"/>
              </a:rPr>
              <a:t>airline, source, destination, </a:t>
            </a:r>
            <a:r>
              <a:rPr lang="en-IN" sz="1800" dirty="0" err="1">
                <a:latin typeface="Calibri" panose="020F0502020204030204" pitchFamily="34" charset="0"/>
                <a:ea typeface="Calibri" panose="020F0502020204030204" pitchFamily="34" charset="0"/>
                <a:cs typeface="Calibri" panose="020F0502020204030204" pitchFamily="34" charset="0"/>
              </a:rPr>
              <a:t>day_type</a:t>
            </a:r>
            <a:r>
              <a:rPr lang="en-IN" sz="1800" dirty="0">
                <a:latin typeface="Calibri" panose="020F0502020204030204" pitchFamily="34" charset="0"/>
                <a:ea typeface="Calibri" panose="020F0502020204030204" pitchFamily="34" charset="0"/>
                <a:cs typeface="Calibri" panose="020F0502020204030204" pitchFamily="34" charset="0"/>
              </a:rPr>
              <a:t>, </a:t>
            </a:r>
            <a:r>
              <a:rPr lang="en-IN" sz="1800" dirty="0" err="1">
                <a:latin typeface="Calibri" panose="020F0502020204030204" pitchFamily="34" charset="0"/>
                <a:ea typeface="Calibri" panose="020F0502020204030204" pitchFamily="34" charset="0"/>
                <a:cs typeface="Calibri" panose="020F0502020204030204" pitchFamily="34" charset="0"/>
              </a:rPr>
              <a:t>month_name</a:t>
            </a:r>
            <a:endParaRPr lang="en-IN" sz="1800" dirty="0">
              <a:latin typeface="Calibri" panose="020F0502020204030204" pitchFamily="34" charset="0"/>
              <a:ea typeface="Calibri" panose="020F0502020204030204" pitchFamily="34" charset="0"/>
              <a:cs typeface="Calibri" panose="020F0502020204030204" pitchFamily="34" charset="0"/>
            </a:endParaRPr>
          </a:p>
          <a:p>
            <a:endParaRPr lang="en-IN" sz="300" dirty="0">
              <a:latin typeface="Calibri" panose="020F0502020204030204" pitchFamily="34" charset="0"/>
              <a:ea typeface="Calibri" panose="020F0502020204030204" pitchFamily="34" charset="0"/>
              <a:cs typeface="Calibri" panose="020F0502020204030204" pitchFamily="34" charset="0"/>
            </a:endParaRPr>
          </a:p>
          <a:p>
            <a:r>
              <a:rPr lang="en-IN" sz="1800" b="1" dirty="0">
                <a:latin typeface="Calibri" panose="020F0502020204030204" pitchFamily="34" charset="0"/>
                <a:ea typeface="Calibri" panose="020F0502020204030204" pitchFamily="34" charset="0"/>
                <a:cs typeface="Calibri" panose="020F0502020204030204" pitchFamily="34" charset="0"/>
              </a:rPr>
              <a:t>           Ordinal Encoding (Ordered Columns):  </a:t>
            </a:r>
            <a:r>
              <a:rPr lang="en-IN" sz="1800" dirty="0">
                <a:latin typeface="Calibri" panose="020F0502020204030204" pitchFamily="34" charset="0"/>
                <a:ea typeface="Calibri" panose="020F0502020204030204" pitchFamily="34" charset="0"/>
                <a:cs typeface="Calibri" panose="020F0502020204030204" pitchFamily="34" charset="0"/>
              </a:rPr>
              <a:t>class → ['Economy', 'Business'] </a:t>
            </a:r>
          </a:p>
        </p:txBody>
      </p:sp>
    </p:spTree>
    <p:extLst>
      <p:ext uri="{BB962C8B-B14F-4D97-AF65-F5344CB8AC3E}">
        <p14:creationId xmlns:p14="http://schemas.microsoft.com/office/powerpoint/2010/main" val="4248442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75609C7-7005-9BA4-7F31-19DB17E8B7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5A2167-CF2F-FB6B-703F-7D9DB9A1D146}"/>
              </a:ext>
            </a:extLst>
          </p:cNvPr>
          <p:cNvSpPr txBox="1"/>
          <p:nvPr/>
        </p:nvSpPr>
        <p:spPr>
          <a:xfrm>
            <a:off x="467140" y="548698"/>
            <a:ext cx="11508552" cy="5216813"/>
          </a:xfrm>
          <a:prstGeom prst="rect">
            <a:avLst/>
          </a:prstGeom>
          <a:noFill/>
        </p:spPr>
        <p:txBody>
          <a:bodyPr wrap="square">
            <a:spAutoFit/>
          </a:bodyPr>
          <a:lstStyle/>
          <a:p>
            <a:pPr marL="342900" indent="-342900">
              <a:buFont typeface="Wingdings" panose="05000000000000000000" pitchFamily="2" charset="2"/>
              <a:buChar char="§"/>
            </a:pPr>
            <a:r>
              <a:rPr lang="en-US" sz="2000" b="1" dirty="0">
                <a:latin typeface="Calibri" panose="020F0502020204030204" pitchFamily="34" charset="0"/>
                <a:ea typeface="Calibri" panose="020F0502020204030204" pitchFamily="34" charset="0"/>
                <a:cs typeface="Calibri" panose="020F0502020204030204" pitchFamily="34" charset="0"/>
              </a:rPr>
              <a:t>Feature Scaling &amp; Transformation</a:t>
            </a:r>
            <a:endParaRPr lang="en-US" sz="1800" b="1" dirty="0">
              <a:latin typeface="Calibri" panose="020F0502020204030204" pitchFamily="34" charset="0"/>
              <a:ea typeface="Calibri" panose="020F0502020204030204" pitchFamily="34" charset="0"/>
              <a:cs typeface="Calibri" panose="020F0502020204030204" pitchFamily="34" charset="0"/>
            </a:endParaRPr>
          </a:p>
          <a:p>
            <a:endParaRPr lang="en-US" sz="200" b="1" dirty="0">
              <a:latin typeface="Calibri" panose="020F0502020204030204" pitchFamily="34" charset="0"/>
              <a:ea typeface="Calibri" panose="020F0502020204030204" pitchFamily="34" charset="0"/>
              <a:cs typeface="Calibri" panose="020F0502020204030204" pitchFamily="34" charset="0"/>
            </a:endParaRPr>
          </a:p>
          <a:p>
            <a:endParaRPr lang="en-US" sz="300" b="1" dirty="0">
              <a:latin typeface="Calibri" panose="020F0502020204030204" pitchFamily="34" charset="0"/>
              <a:ea typeface="Calibri" panose="020F0502020204030204" pitchFamily="34" charset="0"/>
              <a:cs typeface="Calibri" panose="020F0502020204030204" pitchFamily="34" charset="0"/>
            </a:endParaRPr>
          </a:p>
          <a:p>
            <a:endParaRPr lang="en-US" sz="300" b="1"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            Standardization (Scaling): </a:t>
            </a:r>
            <a:r>
              <a:rPr lang="en-US" sz="1800" dirty="0">
                <a:latin typeface="Calibri" panose="020F0502020204030204" pitchFamily="34" charset="0"/>
                <a:ea typeface="Calibri" panose="020F0502020204030204" pitchFamily="34" charset="0"/>
                <a:cs typeface="Calibri" panose="020F0502020204030204" pitchFamily="34" charset="0"/>
              </a:rPr>
              <a:t>Applied to all numerical features using </a:t>
            </a:r>
            <a:r>
              <a:rPr lang="en-US" sz="1800" dirty="0" err="1">
                <a:latin typeface="Calibri" panose="020F0502020204030204" pitchFamily="34" charset="0"/>
                <a:ea typeface="Calibri" panose="020F0502020204030204" pitchFamily="34" charset="0"/>
                <a:cs typeface="Calibri" panose="020F0502020204030204" pitchFamily="34" charset="0"/>
              </a:rPr>
              <a:t>StandardScaler</a:t>
            </a:r>
            <a:r>
              <a:rPr lang="en-US" sz="1800" dirty="0">
                <a:latin typeface="Calibri" panose="020F0502020204030204" pitchFamily="34" charset="0"/>
                <a:ea typeface="Calibri" panose="020F0502020204030204" pitchFamily="34" charset="0"/>
                <a:cs typeface="Calibri" panose="020F0502020204030204" pitchFamily="34" charset="0"/>
              </a:rPr>
              <a:t> (Mean=0, </a:t>
            </a:r>
            <a:r>
              <a:rPr lang="en-IN" sz="1800" dirty="0">
                <a:latin typeface="Calibri" panose="020F0502020204030204" pitchFamily="34" charset="0"/>
                <a:ea typeface="Calibri" panose="020F0502020204030204" pitchFamily="34" charset="0"/>
                <a:cs typeface="Calibri" panose="020F0502020204030204" pitchFamily="34" charset="0"/>
              </a:rPr>
              <a:t>Standard Deviation=1</a:t>
            </a:r>
            <a:r>
              <a:rPr lang="en-US" sz="1800" dirty="0">
                <a:latin typeface="Calibri" panose="020F0502020204030204" pitchFamily="34" charset="0"/>
                <a:ea typeface="Calibri" panose="020F0502020204030204" pitchFamily="34" charset="0"/>
                <a:cs typeface="Calibri" panose="020F0502020204030204" pitchFamily="34" charset="0"/>
              </a:rPr>
              <a:t>)</a:t>
            </a:r>
          </a:p>
          <a:p>
            <a:endParaRPr lang="en-US" sz="400"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            Power Transformation: </a:t>
            </a:r>
            <a:r>
              <a:rPr lang="en-US" sz="1800" dirty="0">
                <a:latin typeface="Calibri" panose="020F0502020204030204" pitchFamily="34" charset="0"/>
                <a:ea typeface="Calibri" panose="020F0502020204030204" pitchFamily="34" charset="0"/>
                <a:cs typeface="Calibri" panose="020F0502020204030204" pitchFamily="34" charset="0"/>
              </a:rPr>
              <a:t>Applied Yeo-Johnson transformation to normalize numerical data </a:t>
            </a:r>
          </a:p>
          <a:p>
            <a:endParaRPr lang="en-US" sz="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Pipeline &amp; Column Transformer</a:t>
            </a:r>
          </a:p>
          <a:p>
            <a:endParaRPr lang="en-US" sz="3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Created separate pipelines for: </a:t>
            </a:r>
          </a:p>
          <a:p>
            <a:endParaRPr lang="en-US" sz="400" b="1" dirty="0">
              <a:latin typeface="Calibri" panose="020F0502020204030204" pitchFamily="34" charset="0"/>
              <a:ea typeface="Calibri" panose="020F0502020204030204" pitchFamily="34" charset="0"/>
              <a:cs typeface="Calibri" panose="020F0502020204030204" pitchFamily="34" charset="0"/>
            </a:endParaRPr>
          </a:p>
          <a:p>
            <a:r>
              <a:rPr lang="en-US" sz="1800" b="1"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Numerical features </a:t>
            </a:r>
          </a:p>
          <a:p>
            <a:pPr lvl="1"/>
            <a:endParaRPr lang="en-US" sz="4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Nominal features </a:t>
            </a:r>
          </a:p>
          <a:p>
            <a:pPr lvl="1"/>
            <a:endParaRPr lang="en-US" sz="4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Ordinal features</a:t>
            </a:r>
          </a:p>
          <a:p>
            <a:pPr lvl="1"/>
            <a:endParaRPr lang="en-US" sz="3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Combined all preprocessing steps using: </a:t>
            </a:r>
          </a:p>
          <a:p>
            <a:pPr lvl="1"/>
            <a:endParaRPr lang="en-US" sz="3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dirty="0" err="1">
                <a:latin typeface="Calibri" panose="020F0502020204030204" pitchFamily="34" charset="0"/>
                <a:ea typeface="Calibri" panose="020F0502020204030204" pitchFamily="34" charset="0"/>
                <a:cs typeface="Calibri" panose="020F0502020204030204" pitchFamily="34" charset="0"/>
              </a:rPr>
              <a:t>ColumnTransformer</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endParaRPr lang="en-US" sz="4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	Pipeline </a:t>
            </a:r>
          </a:p>
          <a:p>
            <a:pPr lvl="1"/>
            <a:endParaRPr lang="en-IN" sz="6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1800" b="1" dirty="0">
                <a:latin typeface="Calibri" panose="020F0502020204030204" pitchFamily="34" charset="0"/>
                <a:ea typeface="Calibri" panose="020F0502020204030204" pitchFamily="34" charset="0"/>
                <a:cs typeface="Calibri" panose="020F0502020204030204" pitchFamily="34" charset="0"/>
              </a:rPr>
              <a:t>Train-Test Split</a:t>
            </a:r>
          </a:p>
          <a:p>
            <a:endParaRPr lang="en-US" sz="400" b="1"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      Split dataset into: </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lvl="1"/>
            <a:r>
              <a:rPr lang="en-US" sz="1800" b="1" dirty="0">
                <a:latin typeface="Calibri" panose="020F0502020204030204" pitchFamily="34" charset="0"/>
                <a:ea typeface="Calibri" panose="020F0502020204030204" pitchFamily="34" charset="0"/>
                <a:cs typeface="Calibri" panose="020F0502020204030204" pitchFamily="34" charset="0"/>
              </a:rPr>
              <a:t>             80% Training Data</a:t>
            </a:r>
            <a:r>
              <a:rPr lang="en-US" sz="1800" dirty="0">
                <a:latin typeface="Calibri" panose="020F0502020204030204" pitchFamily="34" charset="0"/>
                <a:ea typeface="Calibri" panose="020F0502020204030204" pitchFamily="34" charset="0"/>
                <a:cs typeface="Calibri" panose="020F0502020204030204" pitchFamily="34" charset="0"/>
              </a:rPr>
              <a:t> </a:t>
            </a:r>
          </a:p>
          <a:p>
            <a:pPr lvl="1"/>
            <a:endParaRPr lang="en-US" sz="400" b="1" dirty="0">
              <a:latin typeface="Calibri" panose="020F0502020204030204" pitchFamily="34" charset="0"/>
              <a:ea typeface="Calibri" panose="020F0502020204030204" pitchFamily="34" charset="0"/>
              <a:cs typeface="Calibri" panose="020F0502020204030204" pitchFamily="34" charset="0"/>
            </a:endParaRPr>
          </a:p>
          <a:p>
            <a:pPr lvl="1"/>
            <a:r>
              <a:rPr lang="en-US" sz="1800" b="1" dirty="0">
                <a:latin typeface="Calibri" panose="020F0502020204030204" pitchFamily="34" charset="0"/>
                <a:ea typeface="Calibri" panose="020F0502020204030204" pitchFamily="34" charset="0"/>
                <a:cs typeface="Calibri" panose="020F0502020204030204" pitchFamily="34" charset="0"/>
              </a:rPr>
              <a:t>             20% Testing Data</a:t>
            </a:r>
            <a:r>
              <a:rPr lang="en-US" sz="18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370571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FE4CA3E-7E67-D105-39BC-2EC29E500FC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7EE16DF8-7A08-4EEA-5E8E-0695AA41BF5D}"/>
              </a:ext>
            </a:extLst>
          </p:cNvPr>
          <p:cNvSpPr txBox="1">
            <a:spLocks noGrp="1"/>
          </p:cNvSpPr>
          <p:nvPr>
            <p:ph type="title"/>
          </p:nvPr>
        </p:nvSpPr>
        <p:spPr>
          <a:xfrm>
            <a:off x="562433" y="0"/>
            <a:ext cx="10515600" cy="881725"/>
          </a:xfrm>
          <a:prstGeom prst="rect">
            <a:avLst/>
          </a:prstGeom>
          <a:noFill/>
          <a:ln>
            <a:noFill/>
          </a:ln>
        </p:spPr>
        <p:txBody>
          <a:bodyPr spcFirstLastPara="1" wrap="square" lIns="91425" tIns="45700" rIns="91425" bIns="45700" anchor="ctr" anchorCtr="0">
            <a:normAutofit/>
          </a:bodyPr>
          <a:lstStyle/>
          <a:p>
            <a:pPr algn="ctr">
              <a:lnSpc>
                <a:spcPct val="150000"/>
              </a:lnSpc>
            </a:pPr>
            <a:r>
              <a:rPr lang="en-IN" sz="32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3. Model Building </a:t>
            </a:r>
          </a:p>
        </p:txBody>
      </p:sp>
      <p:sp>
        <p:nvSpPr>
          <p:cNvPr id="3" name="TextBox 2">
            <a:extLst>
              <a:ext uri="{FF2B5EF4-FFF2-40B4-BE49-F238E27FC236}">
                <a16:creationId xmlns:a16="http://schemas.microsoft.com/office/drawing/2014/main" id="{4286CC5A-231D-B7D2-10CD-253485DA0258}"/>
              </a:ext>
            </a:extLst>
          </p:cNvPr>
          <p:cNvSpPr txBox="1"/>
          <p:nvPr/>
        </p:nvSpPr>
        <p:spPr>
          <a:xfrm>
            <a:off x="580104" y="881725"/>
            <a:ext cx="11049463" cy="4693593"/>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problem is treated as a </a:t>
            </a: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Regression task</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since the target variable is price, which is continuous.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Multiple Machine Learning models were trained and compared to identify the best-performing algorithm:</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Linear Regression</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K-Nearest Neighbors (KNN) Regressor</a:t>
            </a: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Decision Tree Regressor</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342900" indent="-342900" algn="just" eaLnBrk="0" fontAlgn="base" hangingPunct="0">
              <a:lnSpc>
                <a:spcPct val="150000"/>
              </a:lnSpc>
              <a:spcBef>
                <a:spcPct val="0"/>
              </a:spcBef>
              <a:spcAft>
                <a:spcPct val="0"/>
              </a:spcAft>
              <a:buClrTx/>
              <a:buFont typeface="Wingdings" panose="05000000000000000000" pitchFamily="2" charset="2"/>
              <a:buChar char="§"/>
            </a:pP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Random Forest Regressor</a:t>
            </a:r>
          </a:p>
          <a:p>
            <a:pPr marL="342900" indent="-342900" algn="just" eaLnBrk="0" fontAlgn="base" hangingPunct="0">
              <a:lnSpc>
                <a:spcPct val="150000"/>
              </a:lnSpc>
              <a:spcBef>
                <a:spcPct val="0"/>
              </a:spcBef>
              <a:spcAft>
                <a:spcPct val="0"/>
              </a:spcAft>
              <a:buClrTx/>
              <a:buFont typeface="Wingdings" panose="05000000000000000000" pitchFamily="2" charset="2"/>
              <a:buChar char="§"/>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Gadient Boost</a:t>
            </a: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 Regressor</a:t>
            </a:r>
            <a:endPar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XG Boost Regressor</a:t>
            </a:r>
          </a:p>
          <a:p>
            <a:pPr marR="0" lvl="0" algn="just" defTabSz="914400" rtl="0" eaLnBrk="0" fontAlgn="base" latinLnBrk="0" hangingPunct="0">
              <a:lnSpc>
                <a:spcPct val="150000"/>
              </a:lnSpc>
              <a:spcBef>
                <a:spcPct val="0"/>
              </a:spcBef>
              <a:spcAft>
                <a:spcPct val="0"/>
              </a:spcAft>
              <a:buClrTx/>
              <a:buSzTx/>
              <a:tabLst/>
            </a:pPr>
            <a:endParaRPr kumimoji="0" lang="en-US" altLang="en-US" sz="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buClrTx/>
            </a:pPr>
            <a:r>
              <a:rPr lang="en-IN" sz="2000" dirty="0">
                <a:latin typeface="Calibri" panose="020F0502020204030204" pitchFamily="34" charset="0"/>
                <a:ea typeface="Calibri" panose="020F0502020204030204" pitchFamily="34" charset="0"/>
                <a:cs typeface="Calibri" panose="020F0502020204030204" pitchFamily="34" charset="0"/>
              </a:rPr>
              <a:t>Each model was trained using a </a:t>
            </a:r>
            <a:r>
              <a:rPr lang="en-IN" sz="2000" b="1" dirty="0">
                <a:latin typeface="Calibri" panose="020F0502020204030204" pitchFamily="34" charset="0"/>
                <a:ea typeface="Calibri" panose="020F0502020204030204" pitchFamily="34" charset="0"/>
                <a:cs typeface="Calibri" panose="020F0502020204030204" pitchFamily="34" charset="0"/>
              </a:rPr>
              <a:t>pipeline (preprocessing + algorithm)</a:t>
            </a:r>
            <a:r>
              <a:rPr lang="en-IN" sz="20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965207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7CAF2B4B-2FB3-D734-F1F1-6E47A9FF9F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E0C1BE-62EE-9F2C-9B6C-0830600B8165}"/>
              </a:ext>
            </a:extLst>
          </p:cNvPr>
          <p:cNvSpPr txBox="1"/>
          <p:nvPr/>
        </p:nvSpPr>
        <p:spPr>
          <a:xfrm>
            <a:off x="707923" y="693947"/>
            <a:ext cx="6882580" cy="1891287"/>
          </a:xfrm>
          <a:prstGeom prst="rect">
            <a:avLst/>
          </a:prstGeom>
          <a:noFill/>
        </p:spPr>
        <p:txBody>
          <a:bodyPr wrap="square">
            <a:spAutoFit/>
          </a:bodyPr>
          <a:lstStyle/>
          <a:p>
            <a:pPr>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Comparing models using Evolution metrics: </a:t>
            </a:r>
          </a:p>
          <a:p>
            <a:pPr marL="380990" indent="-380990">
              <a:lnSpc>
                <a:spcPct val="150000"/>
              </a:lnSpc>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Error metrics: RMSE, MSE. </a:t>
            </a:r>
          </a:p>
          <a:p>
            <a:pPr marL="380990" indent="-380990">
              <a:lnSpc>
                <a:spcPct val="150000"/>
              </a:lnSpc>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Goodness of fit: R² score. </a:t>
            </a:r>
          </a:p>
          <a:p>
            <a:pPr>
              <a:lnSpc>
                <a:spcPct val="150000"/>
              </a:lnSpc>
            </a:pPr>
            <a:r>
              <a:rPr lang="en-IN" sz="2000" dirty="0" err="1">
                <a:latin typeface="Calibri" panose="020F0502020204030204" pitchFamily="34" charset="0"/>
                <a:ea typeface="Calibri" panose="020F0502020204030204" pitchFamily="34" charset="0"/>
                <a:cs typeface="Calibri" panose="020F0502020204030204" pitchFamily="34" charset="0"/>
              </a:rPr>
              <a:t>Choosed</a:t>
            </a:r>
            <a:r>
              <a:rPr lang="en-IN" sz="2000" dirty="0">
                <a:latin typeface="Calibri" panose="020F0502020204030204" pitchFamily="34" charset="0"/>
                <a:ea typeface="Calibri" panose="020F0502020204030204" pitchFamily="34" charset="0"/>
                <a:cs typeface="Calibri" panose="020F0502020204030204" pitchFamily="34" charset="0"/>
              </a:rPr>
              <a:t> the model with lowest error and highest R².</a:t>
            </a:r>
          </a:p>
        </p:txBody>
      </p:sp>
      <p:sp>
        <p:nvSpPr>
          <p:cNvPr id="5" name="TextBox 4">
            <a:extLst>
              <a:ext uri="{FF2B5EF4-FFF2-40B4-BE49-F238E27FC236}">
                <a16:creationId xmlns:a16="http://schemas.microsoft.com/office/drawing/2014/main" id="{8ED9D7D3-C0A8-D250-0FE5-9688346C2AA9}"/>
              </a:ext>
            </a:extLst>
          </p:cNvPr>
          <p:cNvSpPr txBox="1"/>
          <p:nvPr/>
        </p:nvSpPr>
        <p:spPr>
          <a:xfrm>
            <a:off x="3834577" y="-85473"/>
            <a:ext cx="4296697" cy="51045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L="0" indent="0" algn="ctr">
              <a:lnSpc>
                <a:spcPct val="150000"/>
              </a:lnSpc>
              <a:buClr>
                <a:schemeClr val="dk1"/>
              </a:buClr>
              <a:buSzPts val="1100"/>
              <a:buNone/>
              <a:defRPr sz="2400" b="1">
                <a:solidFill>
                  <a:schemeClr val="dk1"/>
                </a:solidFill>
                <a:latin typeface="Roboto Medium" panose="02000000000000000000" pitchFamily="2" charset="0"/>
                <a:ea typeface="Roboto Medium" panose="02000000000000000000" pitchFamily="2" charset="0"/>
                <a:cs typeface="Roboto Medium" panose="02000000000000000000" pitchFamily="2" charset="0"/>
              </a:defRPr>
            </a:lvl1pPr>
            <a:lvl2pPr algn="ctr">
              <a:buClr>
                <a:schemeClr val="dk1"/>
              </a:buClr>
              <a:buSzPts val="2400"/>
              <a:buFont typeface="Montserrat"/>
              <a:buNone/>
              <a:defRPr sz="2400" b="1">
                <a:solidFill>
                  <a:schemeClr val="dk1"/>
                </a:solidFill>
                <a:latin typeface="Montserrat"/>
                <a:ea typeface="Montserrat"/>
                <a:cs typeface="Montserrat"/>
              </a:defRPr>
            </a:lvl2pPr>
            <a:lvl3pPr algn="ctr">
              <a:buClr>
                <a:schemeClr val="dk1"/>
              </a:buClr>
              <a:buSzPts val="2400"/>
              <a:buFont typeface="Montserrat"/>
              <a:buNone/>
              <a:defRPr sz="2400" b="1">
                <a:solidFill>
                  <a:schemeClr val="dk1"/>
                </a:solidFill>
                <a:latin typeface="Montserrat"/>
                <a:ea typeface="Montserrat"/>
                <a:cs typeface="Montserrat"/>
              </a:defRPr>
            </a:lvl3pPr>
            <a:lvl4pPr algn="ctr">
              <a:buClr>
                <a:schemeClr val="dk1"/>
              </a:buClr>
              <a:buSzPts val="2400"/>
              <a:buFont typeface="Montserrat"/>
              <a:buNone/>
              <a:defRPr sz="2400" b="1">
                <a:solidFill>
                  <a:schemeClr val="dk1"/>
                </a:solidFill>
                <a:latin typeface="Montserrat"/>
                <a:ea typeface="Montserrat"/>
                <a:cs typeface="Montserrat"/>
              </a:defRPr>
            </a:lvl4pPr>
            <a:lvl5pPr algn="ctr">
              <a:buClr>
                <a:schemeClr val="dk1"/>
              </a:buClr>
              <a:buSzPts val="2400"/>
              <a:buFont typeface="Montserrat"/>
              <a:buNone/>
              <a:defRPr sz="2400" b="1">
                <a:solidFill>
                  <a:schemeClr val="dk1"/>
                </a:solidFill>
                <a:latin typeface="Montserrat"/>
                <a:ea typeface="Montserrat"/>
                <a:cs typeface="Montserrat"/>
              </a:defRPr>
            </a:lvl5pPr>
            <a:lvl6pPr algn="ctr">
              <a:buClr>
                <a:schemeClr val="dk1"/>
              </a:buClr>
              <a:buSzPts val="2400"/>
              <a:buFont typeface="Montserrat"/>
              <a:buNone/>
              <a:defRPr sz="2400" b="1">
                <a:solidFill>
                  <a:schemeClr val="dk1"/>
                </a:solidFill>
                <a:latin typeface="Montserrat"/>
                <a:ea typeface="Montserrat"/>
                <a:cs typeface="Montserrat"/>
              </a:defRPr>
            </a:lvl6pPr>
            <a:lvl7pPr algn="ctr">
              <a:buClr>
                <a:schemeClr val="dk1"/>
              </a:buClr>
              <a:buSzPts val="2400"/>
              <a:buFont typeface="Montserrat"/>
              <a:buNone/>
              <a:defRPr sz="2400" b="1">
                <a:solidFill>
                  <a:schemeClr val="dk1"/>
                </a:solidFill>
                <a:latin typeface="Montserrat"/>
                <a:ea typeface="Montserrat"/>
                <a:cs typeface="Montserrat"/>
              </a:defRPr>
            </a:lvl7pPr>
            <a:lvl8pPr algn="ctr">
              <a:buClr>
                <a:schemeClr val="dk1"/>
              </a:buClr>
              <a:buSzPts val="2400"/>
              <a:buFont typeface="Montserrat"/>
              <a:buNone/>
              <a:defRPr sz="2400" b="1">
                <a:solidFill>
                  <a:schemeClr val="dk1"/>
                </a:solidFill>
                <a:latin typeface="Montserrat"/>
                <a:ea typeface="Montserrat"/>
                <a:cs typeface="Montserrat"/>
              </a:defRPr>
            </a:lvl8pPr>
            <a:lvl9pPr algn="ctr">
              <a:buClr>
                <a:schemeClr val="dk1"/>
              </a:buClr>
              <a:buSzPts val="2400"/>
              <a:buFont typeface="Montserrat"/>
              <a:buNone/>
              <a:defRPr sz="2400" b="1">
                <a:solidFill>
                  <a:schemeClr val="dk1"/>
                </a:solidFill>
                <a:latin typeface="Montserrat"/>
                <a:ea typeface="Montserrat"/>
                <a:cs typeface="Montserrat"/>
              </a:defRPr>
            </a:lvl9pPr>
          </a:lstStyle>
          <a:p>
            <a:r>
              <a:rPr lang="en-IN" sz="3200" i="1" u="sng" dirty="0">
                <a:solidFill>
                  <a:srgbClr val="FF0000"/>
                </a:solidFill>
                <a:latin typeface="Calibri" panose="020F0502020204030204" pitchFamily="34" charset="0"/>
                <a:ea typeface="Calibri" panose="020F0502020204030204" pitchFamily="34" charset="0"/>
                <a:cs typeface="Calibri" panose="020F0502020204030204" pitchFamily="34" charset="0"/>
              </a:rPr>
              <a:t>4. Model Selection</a:t>
            </a:r>
          </a:p>
        </p:txBody>
      </p:sp>
      <p:sp>
        <p:nvSpPr>
          <p:cNvPr id="8" name="TextBox 7">
            <a:extLst>
              <a:ext uri="{FF2B5EF4-FFF2-40B4-BE49-F238E27FC236}">
                <a16:creationId xmlns:a16="http://schemas.microsoft.com/office/drawing/2014/main" id="{57785304-F434-765A-DC00-134A2AAAA7A1}"/>
              </a:ext>
            </a:extLst>
          </p:cNvPr>
          <p:cNvSpPr txBox="1"/>
          <p:nvPr/>
        </p:nvSpPr>
        <p:spPr>
          <a:xfrm>
            <a:off x="707923" y="5389611"/>
            <a:ext cx="6096000" cy="379656"/>
          </a:xfrm>
          <a:prstGeom prst="rect">
            <a:avLst/>
          </a:prstGeom>
          <a:noFill/>
        </p:spPr>
        <p:txBody>
          <a:bodyPr wrap="square">
            <a:spAutoFit/>
          </a:bodyPr>
          <a:lstStyle/>
          <a:p>
            <a:pPr marL="380990" indent="-380990">
              <a:buFont typeface="Wingdings" panose="05000000000000000000" pitchFamily="2" charset="2"/>
              <a:buChar char="Ø"/>
            </a:pPr>
            <a:r>
              <a:rPr lang="en-US" altLang="en-US" sz="1867" dirty="0">
                <a:solidFill>
                  <a:schemeClr val="tx1"/>
                </a:solidFill>
                <a:latin typeface="Calibri" panose="020F0502020204030204" pitchFamily="34" charset="0"/>
                <a:ea typeface="Calibri" panose="020F0502020204030204" pitchFamily="34" charset="0"/>
                <a:cs typeface="Calibri" panose="020F0502020204030204" pitchFamily="34" charset="0"/>
              </a:rPr>
              <a:t>XG Boost Regress is the best Model</a:t>
            </a:r>
            <a:endParaRPr lang="en-IN" sz="1867" dirty="0"/>
          </a:p>
        </p:txBody>
      </p:sp>
      <p:graphicFrame>
        <p:nvGraphicFramePr>
          <p:cNvPr id="4" name="Table 3">
            <a:extLst>
              <a:ext uri="{FF2B5EF4-FFF2-40B4-BE49-F238E27FC236}">
                <a16:creationId xmlns:a16="http://schemas.microsoft.com/office/drawing/2014/main" id="{36FDBD78-0F9D-E64A-E6CE-BCA5D01B78DE}"/>
              </a:ext>
            </a:extLst>
          </p:cNvPr>
          <p:cNvGraphicFramePr>
            <a:graphicFrameLocks noGrp="1"/>
          </p:cNvGraphicFramePr>
          <p:nvPr>
            <p:extLst>
              <p:ext uri="{D42A27DB-BD31-4B8C-83A1-F6EECF244321}">
                <p14:modId xmlns:p14="http://schemas.microsoft.com/office/powerpoint/2010/main" val="3091388658"/>
              </p:ext>
            </p:extLst>
          </p:nvPr>
        </p:nvGraphicFramePr>
        <p:xfrm>
          <a:off x="969457" y="2854204"/>
          <a:ext cx="7727996" cy="2266437"/>
        </p:xfrm>
        <a:graphic>
          <a:graphicData uri="http://schemas.openxmlformats.org/drawingml/2006/table">
            <a:tbl>
              <a:tblPr/>
              <a:tblGrid>
                <a:gridCol w="2791483">
                  <a:extLst>
                    <a:ext uri="{9D8B030D-6E8A-4147-A177-3AD203B41FA5}">
                      <a16:colId xmlns:a16="http://schemas.microsoft.com/office/drawing/2014/main" val="3604870376"/>
                    </a:ext>
                  </a:extLst>
                </a:gridCol>
                <a:gridCol w="2751214">
                  <a:extLst>
                    <a:ext uri="{9D8B030D-6E8A-4147-A177-3AD203B41FA5}">
                      <a16:colId xmlns:a16="http://schemas.microsoft.com/office/drawing/2014/main" val="2056880741"/>
                    </a:ext>
                  </a:extLst>
                </a:gridCol>
                <a:gridCol w="2185299">
                  <a:extLst>
                    <a:ext uri="{9D8B030D-6E8A-4147-A177-3AD203B41FA5}">
                      <a16:colId xmlns:a16="http://schemas.microsoft.com/office/drawing/2014/main" val="4169205492"/>
                    </a:ext>
                  </a:extLst>
                </a:gridCol>
              </a:tblGrid>
              <a:tr h="312612">
                <a:tc>
                  <a:txBody>
                    <a:bodyPr/>
                    <a:lstStyle/>
                    <a:p>
                      <a:pPr>
                        <a:buNone/>
                      </a:pPr>
                      <a:r>
                        <a:rPr lang="en-IN" b="1"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R²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046545"/>
                  </a:ext>
                </a:extLst>
              </a:tr>
              <a:tr h="312612">
                <a:tc>
                  <a:txBody>
                    <a:bodyPr/>
                    <a:lstStyle/>
                    <a:p>
                      <a:pPr>
                        <a:buNone/>
                      </a:pPr>
                      <a:r>
                        <a:rPr lang="en-IN" b="1" dirty="0"/>
                        <a:t>Linear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6857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0.908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8469141"/>
                  </a:ext>
                </a:extLst>
              </a:tr>
              <a:tr h="312612">
                <a:tc>
                  <a:txBody>
                    <a:bodyPr/>
                    <a:lstStyle/>
                    <a:p>
                      <a:pPr>
                        <a:buNone/>
                      </a:pPr>
                      <a:r>
                        <a:rPr lang="en-IN" b="1" dirty="0"/>
                        <a:t>KNN Regressor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4019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0.968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8372221"/>
                  </a:ext>
                </a:extLst>
              </a:tr>
              <a:tr h="312612">
                <a:tc>
                  <a:txBody>
                    <a:bodyPr/>
                    <a:lstStyle/>
                    <a:p>
                      <a:pPr>
                        <a:buNone/>
                      </a:pPr>
                      <a:r>
                        <a:rPr lang="en-IN" b="1" dirty="0"/>
                        <a:t>Decision Tree Regressor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3148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0.980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3350288"/>
                  </a:ext>
                </a:extLst>
              </a:tr>
              <a:tr h="312612">
                <a:tc>
                  <a:txBody>
                    <a:bodyPr/>
                    <a:lstStyle/>
                    <a:p>
                      <a:pPr>
                        <a:buNone/>
                      </a:pPr>
                      <a:r>
                        <a:rPr lang="en-IN" b="1" dirty="0"/>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3055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0.981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837300"/>
                  </a:ext>
                </a:extLst>
              </a:tr>
              <a:tr h="312612">
                <a:tc>
                  <a:txBody>
                    <a:bodyPr/>
                    <a:lstStyle/>
                    <a:p>
                      <a:pPr>
                        <a:buNone/>
                      </a:pPr>
                      <a:r>
                        <a:rPr lang="en-IN" b="1" dirty="0"/>
                        <a:t>Gradient Boosting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5112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a:t>0.949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534417"/>
                  </a:ext>
                </a:extLst>
              </a:tr>
              <a:tr h="390765">
                <a:tc>
                  <a:txBody>
                    <a:bodyPr/>
                    <a:lstStyle/>
                    <a:p>
                      <a:pPr>
                        <a:buNone/>
                      </a:pPr>
                      <a:r>
                        <a:rPr lang="en-IN" sz="1900" b="1" i="0" u="none" strike="noStrike" cap="none" dirty="0" err="1">
                          <a:solidFill>
                            <a:schemeClr val="tx1"/>
                          </a:solidFill>
                          <a:latin typeface="Calibri" panose="020F0502020204030204" pitchFamily="34" charset="0"/>
                          <a:ea typeface="Calibri" panose="020F0502020204030204" pitchFamily="34" charset="0"/>
                          <a:cs typeface="Calibri" panose="020F0502020204030204" pitchFamily="34" charset="0"/>
                          <a:sym typeface="Arial"/>
                        </a:rPr>
                        <a:t>XGBoost</a:t>
                      </a:r>
                      <a:r>
                        <a:rPr lang="en-IN" b="1" dirty="0"/>
                        <a:t> Regressor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3335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0.978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1770254"/>
                  </a:ext>
                </a:extLst>
              </a:tr>
            </a:tbl>
          </a:graphicData>
        </a:graphic>
      </p:graphicFrame>
    </p:spTree>
    <p:extLst>
      <p:ext uri="{BB962C8B-B14F-4D97-AF65-F5344CB8AC3E}">
        <p14:creationId xmlns:p14="http://schemas.microsoft.com/office/powerpoint/2010/main" val="1389981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9BE7F1DC-D4A2-3F99-560E-98577F450E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9763E9-734C-CBC8-FC8B-E68A59D9287C}"/>
              </a:ext>
            </a:extLst>
          </p:cNvPr>
          <p:cNvSpPr txBox="1"/>
          <p:nvPr/>
        </p:nvSpPr>
        <p:spPr>
          <a:xfrm>
            <a:off x="434171" y="336830"/>
            <a:ext cx="6577264" cy="584775"/>
          </a:xfrm>
          <a:prstGeom prst="rect">
            <a:avLst/>
          </a:prstGeom>
          <a:noFill/>
        </p:spPr>
        <p:txBody>
          <a:bodyPr wrap="square">
            <a:spAutoFit/>
          </a:bodyPr>
          <a:lstStyle>
            <a:defPPr marR="0" lvl="0" algn="l" rtl="0">
              <a:lnSpc>
                <a:spcPct val="100000"/>
              </a:lnSpc>
              <a:spcBef>
                <a:spcPts val="0"/>
              </a:spcBef>
              <a:spcAft>
                <a:spcPts val="0"/>
              </a:spcAft>
            </a:defPPr>
            <a:lvl1pPr>
              <a:lnSpc>
                <a:spcPct val="150000"/>
              </a:lnSpc>
              <a:defRPr sz="1800">
                <a:latin typeface="Roboto Medium" panose="02000000000000000000" pitchFamily="2" charset="0"/>
                <a:ea typeface="Roboto Medium" panose="02000000000000000000" pitchFamily="2" charset="0"/>
                <a:cs typeface="Roboto Medium" panose="02000000000000000000" pitchFamily="2" charset="0"/>
              </a:defRPr>
            </a:lvl1pPr>
          </a:lstStyle>
          <a:p>
            <a:r>
              <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Cross validation</a:t>
            </a:r>
          </a:p>
        </p:txBody>
      </p:sp>
      <p:sp>
        <p:nvSpPr>
          <p:cNvPr id="7" name="TextBox 6">
            <a:extLst>
              <a:ext uri="{FF2B5EF4-FFF2-40B4-BE49-F238E27FC236}">
                <a16:creationId xmlns:a16="http://schemas.microsoft.com/office/drawing/2014/main" id="{C1F5AA80-B9F1-57CA-6F5D-AC0FB44FE4E4}"/>
              </a:ext>
            </a:extLst>
          </p:cNvPr>
          <p:cNvSpPr txBox="1"/>
          <p:nvPr/>
        </p:nvSpPr>
        <p:spPr>
          <a:xfrm>
            <a:off x="827463" y="1037891"/>
            <a:ext cx="6096000" cy="1771895"/>
          </a:xfrm>
          <a:prstGeom prst="rect">
            <a:avLst/>
          </a:prstGeom>
          <a:noFill/>
        </p:spPr>
        <p:txBody>
          <a:bodyPr wrap="square">
            <a:spAutoFit/>
          </a:bodyPr>
          <a:lstStyle/>
          <a:p>
            <a:pPr algn="just">
              <a:lnSpc>
                <a:spcPct val="150000"/>
              </a:lnSpc>
              <a:buNone/>
            </a:pPr>
            <a:r>
              <a:rPr lang="en-US" sz="1867" b="1" dirty="0">
                <a:latin typeface="Calibri" panose="020F0502020204030204" pitchFamily="34" charset="0"/>
                <a:ea typeface="Calibri" panose="020F0502020204030204" pitchFamily="34" charset="0"/>
                <a:cs typeface="Calibri" panose="020F0502020204030204" pitchFamily="34" charset="0"/>
              </a:rPr>
              <a:t>Method Used: K-Fold Cross Validation</a:t>
            </a:r>
          </a:p>
          <a:p>
            <a:pPr marL="380990" indent="-380990" algn="just">
              <a:lnSpc>
                <a:spcPct val="150000"/>
              </a:lnSpc>
              <a:buFont typeface="Arial" panose="020B0604020202020204" pitchFamily="34" charset="0"/>
              <a:buChar char="•"/>
            </a:pPr>
            <a:r>
              <a:rPr lang="en-US" sz="1867" dirty="0">
                <a:latin typeface="Calibri" panose="020F0502020204030204" pitchFamily="34" charset="0"/>
                <a:ea typeface="Calibri" panose="020F0502020204030204" pitchFamily="34" charset="0"/>
                <a:cs typeface="Calibri" panose="020F0502020204030204" pitchFamily="34" charset="0"/>
              </a:rPr>
              <a:t>Model : XG Boost</a:t>
            </a:r>
          </a:p>
          <a:p>
            <a:pPr marL="380990" indent="-380990" algn="just">
              <a:lnSpc>
                <a:spcPct val="150000"/>
              </a:lnSpc>
              <a:buFont typeface="Arial" panose="020B0604020202020204" pitchFamily="34" charset="0"/>
              <a:buChar char="•"/>
            </a:pPr>
            <a:r>
              <a:rPr lang="en-US" sz="1867" dirty="0">
                <a:latin typeface="Calibri" panose="020F0502020204030204" pitchFamily="34" charset="0"/>
                <a:ea typeface="Calibri" panose="020F0502020204030204" pitchFamily="34" charset="0"/>
                <a:cs typeface="Calibri" panose="020F0502020204030204" pitchFamily="34" charset="0"/>
              </a:rPr>
              <a:t>Dataset split into 5 equal folds</a:t>
            </a:r>
          </a:p>
          <a:p>
            <a:pPr marL="380990" indent="-380990" algn="just">
              <a:lnSpc>
                <a:spcPct val="150000"/>
              </a:lnSpc>
              <a:buFont typeface="Arial" panose="020B0604020202020204" pitchFamily="34" charset="0"/>
              <a:buChar char="•"/>
            </a:pPr>
            <a:r>
              <a:rPr lang="en-US" sz="1867" dirty="0">
                <a:latin typeface="Calibri" panose="020F0502020204030204" pitchFamily="34" charset="0"/>
                <a:ea typeface="Calibri" panose="020F0502020204030204" pitchFamily="34" charset="0"/>
                <a:cs typeface="Calibri" panose="020F0502020204030204" pitchFamily="34" charset="0"/>
              </a:rPr>
              <a:t>Evaluation Metric: R2 Score</a:t>
            </a:r>
          </a:p>
        </p:txBody>
      </p:sp>
      <p:sp>
        <p:nvSpPr>
          <p:cNvPr id="10" name="TextBox 9">
            <a:extLst>
              <a:ext uri="{FF2B5EF4-FFF2-40B4-BE49-F238E27FC236}">
                <a16:creationId xmlns:a16="http://schemas.microsoft.com/office/drawing/2014/main" id="{8675902A-A154-FE69-F153-10696D99310B}"/>
              </a:ext>
            </a:extLst>
          </p:cNvPr>
          <p:cNvSpPr txBox="1"/>
          <p:nvPr/>
        </p:nvSpPr>
        <p:spPr>
          <a:xfrm>
            <a:off x="827463" y="3575563"/>
            <a:ext cx="4865417" cy="2352952"/>
          </a:xfrm>
          <a:prstGeom prst="rect">
            <a:avLst/>
          </a:prstGeom>
          <a:noFill/>
        </p:spPr>
        <p:txBody>
          <a:bodyPr wrap="square">
            <a:spAutoFit/>
          </a:bodyPr>
          <a:lstStyle/>
          <a:p>
            <a:pPr>
              <a:lnSpc>
                <a:spcPct val="150000"/>
              </a:lnSpc>
              <a:buNone/>
            </a:pPr>
            <a:r>
              <a:rPr lang="en-IN" sz="2000" b="1" dirty="0">
                <a:latin typeface="Calibri" panose="020F0502020204030204" pitchFamily="34" charset="0"/>
                <a:ea typeface="Calibri" panose="020F0502020204030204" pitchFamily="34" charset="0"/>
                <a:cs typeface="Calibri" panose="020F0502020204030204" pitchFamily="34" charset="0"/>
              </a:rPr>
              <a:t>Method Used: </a:t>
            </a:r>
            <a:r>
              <a:rPr lang="en-IN" sz="2000" dirty="0">
                <a:latin typeface="Calibri" panose="020F0502020204030204" pitchFamily="34" charset="0"/>
                <a:ea typeface="Calibri" panose="020F0502020204030204" pitchFamily="34" charset="0"/>
                <a:cs typeface="Calibri" panose="020F0502020204030204" pitchFamily="34" charset="0"/>
              </a:rPr>
              <a:t>Grid Search</a:t>
            </a:r>
          </a:p>
          <a:p>
            <a:pPr>
              <a:lnSpc>
                <a:spcPct val="150000"/>
              </a:lnSpc>
            </a:pPr>
            <a:r>
              <a:rPr lang="en-IN" sz="2000" dirty="0">
                <a:latin typeface="Calibri" panose="020F0502020204030204" pitchFamily="34" charset="0"/>
                <a:ea typeface="Calibri" panose="020F0502020204030204" pitchFamily="34" charset="0"/>
                <a:cs typeface="Calibri" panose="020F0502020204030204" pitchFamily="34" charset="0"/>
              </a:rPr>
              <a:t>Tested multiple combinations of:</a:t>
            </a:r>
          </a:p>
          <a:p>
            <a:pPr marL="990575" lvl="1" indent="-380990">
              <a:lnSpc>
                <a:spcPct val="150000"/>
              </a:lnSpc>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n_estimators</a:t>
            </a:r>
            <a:r>
              <a:rPr lang="en-IN" sz="2000" dirty="0">
                <a:latin typeface="Calibri" panose="020F0502020204030204" pitchFamily="34" charset="0"/>
                <a:ea typeface="Calibri" panose="020F0502020204030204" pitchFamily="34" charset="0"/>
                <a:cs typeface="Calibri" panose="020F0502020204030204" pitchFamily="34" charset="0"/>
              </a:rPr>
              <a:t> → [200, 300]</a:t>
            </a:r>
          </a:p>
          <a:p>
            <a:pPr marL="990575" lvl="1" indent="-380990">
              <a:lnSpc>
                <a:spcPct val="150000"/>
              </a:lnSpc>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learning_rate</a:t>
            </a:r>
            <a:r>
              <a:rPr lang="en-IN" sz="2000" dirty="0">
                <a:latin typeface="Calibri" panose="020F0502020204030204" pitchFamily="34" charset="0"/>
                <a:ea typeface="Calibri" panose="020F0502020204030204" pitchFamily="34" charset="0"/>
                <a:cs typeface="Calibri" panose="020F0502020204030204" pitchFamily="34" charset="0"/>
              </a:rPr>
              <a:t> → [0.05, 0.1]</a:t>
            </a:r>
          </a:p>
          <a:p>
            <a:pPr marL="990575" lvl="1" indent="-380990">
              <a:lnSpc>
                <a:spcPct val="150000"/>
              </a:lnSpc>
              <a:buFont typeface="Arial" panose="020B0604020202020204" pitchFamily="34" charset="0"/>
              <a:buChar char="•"/>
            </a:pPr>
            <a:r>
              <a:rPr lang="en-IN" sz="2000" dirty="0" err="1">
                <a:latin typeface="Calibri" panose="020F0502020204030204" pitchFamily="34" charset="0"/>
                <a:ea typeface="Calibri" panose="020F0502020204030204" pitchFamily="34" charset="0"/>
                <a:cs typeface="Calibri" panose="020F0502020204030204" pitchFamily="34" charset="0"/>
              </a:rPr>
              <a:t>max_depth</a:t>
            </a:r>
            <a:r>
              <a:rPr lang="en-IN" sz="2000" dirty="0">
                <a:latin typeface="Calibri" panose="020F0502020204030204" pitchFamily="34" charset="0"/>
                <a:ea typeface="Calibri" panose="020F0502020204030204" pitchFamily="34" charset="0"/>
                <a:cs typeface="Calibri" panose="020F0502020204030204" pitchFamily="34" charset="0"/>
              </a:rPr>
              <a:t> → [5, 7]</a:t>
            </a:r>
          </a:p>
        </p:txBody>
      </p:sp>
      <p:sp>
        <p:nvSpPr>
          <p:cNvPr id="14" name="TextBox 13">
            <a:extLst>
              <a:ext uri="{FF2B5EF4-FFF2-40B4-BE49-F238E27FC236}">
                <a16:creationId xmlns:a16="http://schemas.microsoft.com/office/drawing/2014/main" id="{3ED40898-C7C5-6DB6-133F-5C7232FEE960}"/>
              </a:ext>
            </a:extLst>
          </p:cNvPr>
          <p:cNvSpPr txBox="1"/>
          <p:nvPr/>
        </p:nvSpPr>
        <p:spPr>
          <a:xfrm>
            <a:off x="5828563" y="3575563"/>
            <a:ext cx="5270091" cy="2352952"/>
          </a:xfrm>
          <a:prstGeom prst="rect">
            <a:avLst/>
          </a:prstGeom>
          <a:noFill/>
        </p:spPr>
        <p:txBody>
          <a:bodyPr wrap="square">
            <a:spAutoFit/>
          </a:bodyPr>
          <a:lstStyle/>
          <a:p>
            <a:pPr>
              <a:lnSpc>
                <a:spcPct val="150000"/>
              </a:lnSpc>
              <a:buNone/>
            </a:pPr>
            <a:r>
              <a:rPr lang="en-US" sz="2000" b="1" dirty="0">
                <a:latin typeface="Calibri" panose="020F0502020204030204" pitchFamily="34" charset="0"/>
                <a:ea typeface="Calibri" panose="020F0502020204030204" pitchFamily="34" charset="0"/>
                <a:cs typeface="Calibri" panose="020F0502020204030204" pitchFamily="34" charset="0"/>
              </a:rPr>
              <a:t>Best Parameters Found</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Learning Rate = 0.1</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Max Depth = 7</a:t>
            </a:r>
          </a:p>
          <a:p>
            <a:pPr marL="342900" indent="-342900">
              <a:lnSpc>
                <a:spcPct val="150000"/>
              </a:lnSpc>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Number of Estimators = 300</a:t>
            </a:r>
          </a:p>
          <a:p>
            <a:pPr marL="342900" indent="-342900">
              <a:lnSpc>
                <a:spcPct val="150000"/>
              </a:lnSpc>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Improved </a:t>
            </a:r>
            <a:r>
              <a:rPr lang="en-IN" sz="2000" b="1" dirty="0">
                <a:latin typeface="Calibri" panose="020F0502020204030204" pitchFamily="34" charset="0"/>
                <a:ea typeface="Calibri" panose="020F0502020204030204" pitchFamily="34" charset="0"/>
                <a:cs typeface="Calibri" panose="020F0502020204030204" pitchFamily="34" charset="0"/>
              </a:rPr>
              <a:t>R2 Score = </a:t>
            </a:r>
            <a:r>
              <a:rPr lang="en-IN" sz="2000" dirty="0">
                <a:latin typeface="Calibri" panose="020F0502020204030204" pitchFamily="34" charset="0"/>
                <a:ea typeface="Calibri" panose="020F0502020204030204" pitchFamily="34" charset="0"/>
                <a:cs typeface="Calibri" panose="020F0502020204030204" pitchFamily="34" charset="0"/>
              </a:rPr>
              <a:t>0.978</a:t>
            </a:r>
          </a:p>
        </p:txBody>
      </p:sp>
      <p:sp>
        <p:nvSpPr>
          <p:cNvPr id="16" name="TextBox 15">
            <a:extLst>
              <a:ext uri="{FF2B5EF4-FFF2-40B4-BE49-F238E27FC236}">
                <a16:creationId xmlns:a16="http://schemas.microsoft.com/office/drawing/2014/main" id="{FCF719DA-9B36-4CD5-3137-E09E746B2176}"/>
              </a:ext>
            </a:extLst>
          </p:cNvPr>
          <p:cNvSpPr txBox="1"/>
          <p:nvPr/>
        </p:nvSpPr>
        <p:spPr>
          <a:xfrm>
            <a:off x="434171" y="2979378"/>
            <a:ext cx="6096000" cy="584775"/>
          </a:xfrm>
          <a:prstGeom prst="rect">
            <a:avLst/>
          </a:prstGeom>
          <a:noFill/>
        </p:spPr>
        <p:txBody>
          <a:bodyPr wrap="square">
            <a:spAutoFit/>
          </a:bodyPr>
          <a:lstStyle>
            <a:defPPr marR="0" lvl="0" algn="l" rtl="0">
              <a:lnSpc>
                <a:spcPct val="100000"/>
              </a:lnSpc>
              <a:spcBef>
                <a:spcPts val="0"/>
              </a:spcBef>
              <a:spcAft>
                <a:spcPts val="0"/>
              </a:spcAft>
              <a:defRPr/>
            </a:defPPr>
            <a:lvl1pPr>
              <a:lnSpc>
                <a:spcPct val="150000"/>
              </a:lnSpc>
              <a:defRPr sz="1800">
                <a:latin typeface="Roboto Medium" panose="02000000000000000000" pitchFamily="2" charset="0"/>
                <a:ea typeface="Roboto Medium" panose="02000000000000000000" pitchFamily="2" charset="0"/>
                <a:cs typeface="Roboto Medium" panose="02000000000000000000" pitchFamily="2" charset="0"/>
              </a:defRPr>
            </a:lvl1pPr>
          </a:lstStyle>
          <a:p>
            <a:r>
              <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Hyperparameter Tuning</a:t>
            </a:r>
          </a:p>
        </p:txBody>
      </p:sp>
    </p:spTree>
    <p:extLst>
      <p:ext uri="{BB962C8B-B14F-4D97-AF65-F5344CB8AC3E}">
        <p14:creationId xmlns:p14="http://schemas.microsoft.com/office/powerpoint/2010/main" val="4194069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DF2B8E4-3966-96FD-516F-1CA7617B2B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F64503-3DBD-3201-0380-9DE67DCAD2C5}"/>
              </a:ext>
            </a:extLst>
          </p:cNvPr>
          <p:cNvSpPr txBox="1"/>
          <p:nvPr/>
        </p:nvSpPr>
        <p:spPr>
          <a:xfrm>
            <a:off x="835741" y="1384690"/>
            <a:ext cx="8485240" cy="2350965"/>
          </a:xfrm>
          <a:prstGeom prst="rect">
            <a:avLst/>
          </a:prstGeom>
          <a:noFill/>
        </p:spPr>
        <p:txBody>
          <a:bodyPr wrap="square">
            <a:spAutoFit/>
          </a:bodyPr>
          <a:lstStyle/>
          <a:p>
            <a:pPr>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For deployment </a:t>
            </a:r>
            <a:r>
              <a:rPr lang="en-US" sz="2000" b="1" dirty="0" err="1">
                <a:latin typeface="Calibri" panose="020F0502020204030204" pitchFamily="34" charset="0"/>
                <a:ea typeface="Calibri" panose="020F0502020204030204" pitchFamily="34" charset="0"/>
                <a:cs typeface="Calibri" panose="020F0502020204030204" pitchFamily="34" charset="0"/>
              </a:rPr>
              <a:t>Streamlit</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used</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380990" indent="-380990">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 Build a simple UI where users can input data and get predictions.</a:t>
            </a:r>
          </a:p>
          <a:p>
            <a:pPr marL="380990" indent="-380990">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Pushing </a:t>
            </a:r>
            <a:r>
              <a:rPr lang="en-US" sz="2000" dirty="0" err="1">
                <a:latin typeface="Calibri" panose="020F0502020204030204" pitchFamily="34" charset="0"/>
                <a:ea typeface="Calibri" panose="020F0502020204030204" pitchFamily="34" charset="0"/>
                <a:cs typeface="Calibri" panose="020F0502020204030204" pitchFamily="34" charset="0"/>
              </a:rPr>
              <a:t>Streamlit</a:t>
            </a:r>
            <a:r>
              <a:rPr lang="en-US" sz="2000" dirty="0">
                <a:latin typeface="Calibri" panose="020F0502020204030204" pitchFamily="34" charset="0"/>
                <a:ea typeface="Calibri" panose="020F0502020204030204" pitchFamily="34" charset="0"/>
                <a:cs typeface="Calibri" panose="020F0502020204030204" pitchFamily="34" charset="0"/>
              </a:rPr>
              <a:t> app to </a:t>
            </a:r>
            <a:r>
              <a:rPr lang="en-US" sz="2000" b="1" dirty="0">
                <a:latin typeface="Calibri" panose="020F0502020204030204" pitchFamily="34" charset="0"/>
                <a:ea typeface="Calibri" panose="020F0502020204030204" pitchFamily="34" charset="0"/>
                <a:cs typeface="Calibri" panose="020F0502020204030204" pitchFamily="34" charset="0"/>
              </a:rPr>
              <a:t>Hugging Face </a:t>
            </a:r>
            <a:r>
              <a:rPr lang="en-US" sz="2000" dirty="0">
                <a:latin typeface="Calibri" panose="020F0502020204030204" pitchFamily="34" charset="0"/>
                <a:ea typeface="Calibri" panose="020F0502020204030204" pitchFamily="34" charset="0"/>
                <a:cs typeface="Calibri" panose="020F0502020204030204" pitchFamily="34" charset="0"/>
              </a:rPr>
              <a:t>Spaces for free hosting</a:t>
            </a:r>
          </a:p>
          <a:p>
            <a:pPr marL="380990" indent="-380990">
              <a:lnSpc>
                <a:spcPct val="150000"/>
              </a:lnSpc>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Hugging Face:- </a:t>
            </a:r>
            <a:r>
              <a:rPr lang="en-US" sz="2000" dirty="0">
                <a:latin typeface="Calibri" panose="020F0502020204030204" pitchFamily="34" charset="0"/>
                <a:ea typeface="Calibri" panose="020F0502020204030204" pitchFamily="34" charset="0"/>
                <a:cs typeface="Calibri" panose="020F0502020204030204" pitchFamily="34" charset="0"/>
                <a:hlinkClick r:id="rId3"/>
              </a:rPr>
              <a:t>Flight Ticket Price Prediction - a Hugging Face Space by </a:t>
            </a:r>
            <a:r>
              <a:rPr lang="en-US" sz="2000" dirty="0" err="1">
                <a:latin typeface="Calibri" panose="020F0502020204030204" pitchFamily="34" charset="0"/>
                <a:ea typeface="Calibri" panose="020F0502020204030204" pitchFamily="34" charset="0"/>
                <a:cs typeface="Calibri" panose="020F0502020204030204" pitchFamily="34" charset="0"/>
                <a:hlinkClick r:id="rId3"/>
              </a:rPr>
              <a:t>Vijayalakshmibollapalli</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6F1B65BF-BD36-E50C-D4C2-3F60A7D88B4C}"/>
              </a:ext>
            </a:extLst>
          </p:cNvPr>
          <p:cNvSpPr txBox="1"/>
          <p:nvPr/>
        </p:nvSpPr>
        <p:spPr>
          <a:xfrm>
            <a:off x="3947651" y="304800"/>
            <a:ext cx="4296697" cy="4709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L="0" indent="0" algn="ctr">
              <a:lnSpc>
                <a:spcPct val="150000"/>
              </a:lnSpc>
              <a:buClr>
                <a:schemeClr val="dk1"/>
              </a:buClr>
              <a:buSzPts val="1100"/>
              <a:buNone/>
              <a:defRPr sz="2400" b="1">
                <a:solidFill>
                  <a:schemeClr val="dk1"/>
                </a:solidFill>
                <a:latin typeface="Roboto Medium" panose="02000000000000000000" pitchFamily="2" charset="0"/>
                <a:ea typeface="Roboto Medium" panose="02000000000000000000" pitchFamily="2" charset="0"/>
                <a:cs typeface="Roboto Medium" panose="02000000000000000000" pitchFamily="2" charset="0"/>
              </a:defRPr>
            </a:lvl1pPr>
            <a:lvl2pPr algn="ctr">
              <a:buClr>
                <a:schemeClr val="dk1"/>
              </a:buClr>
              <a:buSzPts val="2400"/>
              <a:buFont typeface="Montserrat"/>
              <a:buNone/>
              <a:defRPr sz="2400" b="1">
                <a:solidFill>
                  <a:schemeClr val="dk1"/>
                </a:solidFill>
                <a:latin typeface="Montserrat"/>
                <a:ea typeface="Montserrat"/>
                <a:cs typeface="Montserrat"/>
              </a:defRPr>
            </a:lvl2pPr>
            <a:lvl3pPr algn="ctr">
              <a:buClr>
                <a:schemeClr val="dk1"/>
              </a:buClr>
              <a:buSzPts val="2400"/>
              <a:buFont typeface="Montserrat"/>
              <a:buNone/>
              <a:defRPr sz="2400" b="1">
                <a:solidFill>
                  <a:schemeClr val="dk1"/>
                </a:solidFill>
                <a:latin typeface="Montserrat"/>
                <a:ea typeface="Montserrat"/>
                <a:cs typeface="Montserrat"/>
              </a:defRPr>
            </a:lvl3pPr>
            <a:lvl4pPr algn="ctr">
              <a:buClr>
                <a:schemeClr val="dk1"/>
              </a:buClr>
              <a:buSzPts val="2400"/>
              <a:buFont typeface="Montserrat"/>
              <a:buNone/>
              <a:defRPr sz="2400" b="1">
                <a:solidFill>
                  <a:schemeClr val="dk1"/>
                </a:solidFill>
                <a:latin typeface="Montserrat"/>
                <a:ea typeface="Montserrat"/>
                <a:cs typeface="Montserrat"/>
              </a:defRPr>
            </a:lvl4pPr>
            <a:lvl5pPr algn="ctr">
              <a:buClr>
                <a:schemeClr val="dk1"/>
              </a:buClr>
              <a:buSzPts val="2400"/>
              <a:buFont typeface="Montserrat"/>
              <a:buNone/>
              <a:defRPr sz="2400" b="1">
                <a:solidFill>
                  <a:schemeClr val="dk1"/>
                </a:solidFill>
                <a:latin typeface="Montserrat"/>
                <a:ea typeface="Montserrat"/>
                <a:cs typeface="Montserrat"/>
              </a:defRPr>
            </a:lvl5pPr>
            <a:lvl6pPr algn="ctr">
              <a:buClr>
                <a:schemeClr val="dk1"/>
              </a:buClr>
              <a:buSzPts val="2400"/>
              <a:buFont typeface="Montserrat"/>
              <a:buNone/>
              <a:defRPr sz="2400" b="1">
                <a:solidFill>
                  <a:schemeClr val="dk1"/>
                </a:solidFill>
                <a:latin typeface="Montserrat"/>
                <a:ea typeface="Montserrat"/>
                <a:cs typeface="Montserrat"/>
              </a:defRPr>
            </a:lvl6pPr>
            <a:lvl7pPr algn="ctr">
              <a:buClr>
                <a:schemeClr val="dk1"/>
              </a:buClr>
              <a:buSzPts val="2400"/>
              <a:buFont typeface="Montserrat"/>
              <a:buNone/>
              <a:defRPr sz="2400" b="1">
                <a:solidFill>
                  <a:schemeClr val="dk1"/>
                </a:solidFill>
                <a:latin typeface="Montserrat"/>
                <a:ea typeface="Montserrat"/>
                <a:cs typeface="Montserrat"/>
              </a:defRPr>
            </a:lvl7pPr>
            <a:lvl8pPr algn="ctr">
              <a:buClr>
                <a:schemeClr val="dk1"/>
              </a:buClr>
              <a:buSzPts val="2400"/>
              <a:buFont typeface="Montserrat"/>
              <a:buNone/>
              <a:defRPr sz="2400" b="1">
                <a:solidFill>
                  <a:schemeClr val="dk1"/>
                </a:solidFill>
                <a:latin typeface="Montserrat"/>
                <a:ea typeface="Montserrat"/>
                <a:cs typeface="Montserrat"/>
              </a:defRPr>
            </a:lvl8pPr>
            <a:lvl9pPr algn="ctr">
              <a:buClr>
                <a:schemeClr val="dk1"/>
              </a:buClr>
              <a:buSzPts val="2400"/>
              <a:buFont typeface="Montserrat"/>
              <a:buNone/>
              <a:defRPr sz="2400" b="1">
                <a:solidFill>
                  <a:schemeClr val="dk1"/>
                </a:solidFill>
                <a:latin typeface="Montserrat"/>
                <a:ea typeface="Montserrat"/>
                <a:cs typeface="Montserrat"/>
              </a:defRPr>
            </a:lvl9pPr>
          </a:lstStyle>
          <a:p>
            <a:r>
              <a:rPr lang="en-IN" sz="3200" i="1" u="sng" dirty="0">
                <a:solidFill>
                  <a:srgbClr val="FF0000"/>
                </a:solidFill>
                <a:latin typeface="Calibri" panose="020F0502020204030204" pitchFamily="34" charset="0"/>
                <a:ea typeface="Calibri" panose="020F0502020204030204" pitchFamily="34" charset="0"/>
                <a:cs typeface="Calibri" panose="020F0502020204030204" pitchFamily="34" charset="0"/>
              </a:rPr>
              <a:t>5. Model Deployment </a:t>
            </a:r>
          </a:p>
        </p:txBody>
      </p:sp>
    </p:spTree>
    <p:extLst>
      <p:ext uri="{BB962C8B-B14F-4D97-AF65-F5344CB8AC3E}">
        <p14:creationId xmlns:p14="http://schemas.microsoft.com/office/powerpoint/2010/main" val="2511420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BE19DFF-728C-7E6E-62AC-B70FBA57B69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DC5361B-3083-8E3A-2059-D9A75DA5120C}"/>
              </a:ext>
            </a:extLst>
          </p:cNvPr>
          <p:cNvSpPr txBox="1"/>
          <p:nvPr/>
        </p:nvSpPr>
        <p:spPr>
          <a:xfrm>
            <a:off x="1892968" y="337281"/>
            <a:ext cx="8240863" cy="646331"/>
          </a:xfrm>
          <a:prstGeom prst="rect">
            <a:avLst/>
          </a:prstGeom>
          <a:noFill/>
        </p:spPr>
        <p:txBody>
          <a:bodyPr wrap="square">
            <a:spAutoFit/>
          </a:bodyPr>
          <a:lstStyle/>
          <a:p>
            <a:pPr algn="ct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Applications</a:t>
            </a:r>
            <a:endParaRPr lang="en-IN" sz="3600" i="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B8FC581-BB3E-AAB3-030A-47A2D6A8890D}"/>
              </a:ext>
            </a:extLst>
          </p:cNvPr>
          <p:cNvSpPr txBox="1"/>
          <p:nvPr/>
        </p:nvSpPr>
        <p:spPr>
          <a:xfrm>
            <a:off x="1379620" y="1409018"/>
            <a:ext cx="8587340" cy="2616101"/>
          </a:xfrm>
          <a:prstGeom prst="rect">
            <a:avLst/>
          </a:prstGeom>
          <a:noFill/>
        </p:spPr>
        <p:txBody>
          <a:bodyPr wrap="square">
            <a:spAutoFit/>
          </a:bodyPr>
          <a:lstStyle/>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Used in flight booking platforms like MakeMyTrip and </a:t>
            </a:r>
            <a:r>
              <a:rPr lang="en-US" sz="2000" dirty="0" err="1">
                <a:latin typeface="Calibri" panose="020F0502020204030204" pitchFamily="34" charset="0"/>
                <a:ea typeface="Calibri" panose="020F0502020204030204" pitchFamily="34" charset="0"/>
                <a:cs typeface="Calibri" panose="020F0502020204030204" pitchFamily="34" charset="0"/>
              </a:rPr>
              <a:t>Goibibo</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endParaRPr lang="en-US" sz="200" dirty="0">
              <a:latin typeface="Calibri" panose="020F0502020204030204" pitchFamily="34" charset="0"/>
              <a:ea typeface="Calibri" panose="020F0502020204030204" pitchFamily="34" charset="0"/>
              <a:cs typeface="Calibri" panose="020F0502020204030204" pitchFamily="34" charset="0"/>
            </a:endParaRPr>
          </a:p>
          <a:p>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Helps customers find cheaper flight tickets and choose the best booking time</a:t>
            </a:r>
          </a:p>
          <a:p>
            <a:endParaRPr lang="en-US" sz="200" dirty="0">
              <a:latin typeface="Calibri" panose="020F0502020204030204" pitchFamily="34" charset="0"/>
              <a:ea typeface="Calibri" panose="020F0502020204030204" pitchFamily="34" charset="0"/>
              <a:cs typeface="Calibri" panose="020F0502020204030204" pitchFamily="34" charset="0"/>
            </a:endParaRPr>
          </a:p>
          <a:p>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Supports airline dynamic pricing and revenue management systems</a:t>
            </a:r>
          </a:p>
          <a:p>
            <a:endParaRPr lang="en-US" sz="500" dirty="0">
              <a:latin typeface="Calibri" panose="020F0502020204030204" pitchFamily="34" charset="0"/>
              <a:ea typeface="Calibri" panose="020F0502020204030204" pitchFamily="34" charset="0"/>
              <a:cs typeface="Calibri" panose="020F0502020204030204" pitchFamily="34" charset="0"/>
            </a:endParaRPr>
          </a:p>
          <a:p>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Predicts future flight ticket prices using historical data</a:t>
            </a:r>
          </a:p>
          <a:p>
            <a:endParaRPr lang="en-US" sz="500" dirty="0">
              <a:latin typeface="Calibri" panose="020F0502020204030204" pitchFamily="34" charset="0"/>
              <a:ea typeface="Calibri" panose="020F0502020204030204" pitchFamily="34" charset="0"/>
              <a:cs typeface="Calibri" panose="020F0502020204030204" pitchFamily="34" charset="0"/>
            </a:endParaRPr>
          </a:p>
          <a:p>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Used in smart travel recommendation and fare comparison systems</a:t>
            </a:r>
          </a:p>
          <a:p>
            <a:endParaRPr lang="en-US" sz="500" dirty="0">
              <a:latin typeface="Calibri" panose="020F0502020204030204" pitchFamily="34" charset="0"/>
              <a:ea typeface="Calibri" panose="020F0502020204030204" pitchFamily="34" charset="0"/>
              <a:cs typeface="Calibri" panose="020F0502020204030204" pitchFamily="34" charset="0"/>
            </a:endParaRPr>
          </a:p>
          <a:p>
            <a:endParaRPr lang="en-US" sz="5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000" dirty="0">
                <a:latin typeface="Calibri" panose="020F0502020204030204" pitchFamily="34" charset="0"/>
                <a:ea typeface="Calibri" panose="020F0502020204030204" pitchFamily="34" charset="0"/>
                <a:cs typeface="Calibri" panose="020F0502020204030204" pitchFamily="34" charset="0"/>
              </a:rPr>
              <a:t>Analyzes travel demand, pricing trends, and customer booking patterns</a:t>
            </a:r>
          </a:p>
        </p:txBody>
      </p:sp>
    </p:spTree>
    <p:extLst>
      <p:ext uri="{BB962C8B-B14F-4D97-AF65-F5344CB8AC3E}">
        <p14:creationId xmlns:p14="http://schemas.microsoft.com/office/powerpoint/2010/main" val="3755168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4640087-62CA-A676-96A0-1329CA81EC6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C026D4B-4A3A-E44D-013A-C4AC6BB869D3}"/>
              </a:ext>
            </a:extLst>
          </p:cNvPr>
          <p:cNvSpPr txBox="1"/>
          <p:nvPr/>
        </p:nvSpPr>
        <p:spPr>
          <a:xfrm>
            <a:off x="1892968" y="337281"/>
            <a:ext cx="8240863" cy="646331"/>
          </a:xfrm>
          <a:prstGeom prst="rect">
            <a:avLst/>
          </a:prstGeom>
          <a:noFill/>
        </p:spPr>
        <p:txBody>
          <a:bodyPr wrap="square">
            <a:spAutoFit/>
          </a:bodyPr>
          <a:lstStyle/>
          <a:p>
            <a:pPr algn="ctr"/>
            <a:r>
              <a:rPr lang="en-US"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Challenges Faced</a:t>
            </a:r>
          </a:p>
        </p:txBody>
      </p:sp>
      <p:sp>
        <p:nvSpPr>
          <p:cNvPr id="6" name="TextBox 5">
            <a:extLst>
              <a:ext uri="{FF2B5EF4-FFF2-40B4-BE49-F238E27FC236}">
                <a16:creationId xmlns:a16="http://schemas.microsoft.com/office/drawing/2014/main" id="{C1B41D5A-73AF-081D-771B-B8860502196C}"/>
              </a:ext>
            </a:extLst>
          </p:cNvPr>
          <p:cNvSpPr txBox="1"/>
          <p:nvPr/>
        </p:nvSpPr>
        <p:spPr>
          <a:xfrm>
            <a:off x="993289" y="1236298"/>
            <a:ext cx="10040220" cy="3508653"/>
          </a:xfrm>
          <a:prstGeom prst="rect">
            <a:avLst/>
          </a:prstGeom>
          <a:noFill/>
        </p:spPr>
        <p:txBody>
          <a:bodyPr wrap="square">
            <a:spAutoFit/>
          </a:bodyPr>
          <a:lstStyle/>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Handling a large dataset with more than 300,000 flight records.</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Converting time-related features such as departure time, arrival time, and duration into usable numerical format.</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Cleaning inconsistent values in the stop column and duration column.</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Preventing overfitting in tree-based models such as Decision Tree and Random Forest.</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Selecting the best-performing model among multiple regression algorithms.</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Performing hyperparameter tuning to improve model accuracy and generalization.</a:t>
            </a:r>
          </a:p>
          <a:p>
            <a:endParaRPr lang="en-US" sz="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Handling high variation in ticket prices between Economy and Business class flights.</a:t>
            </a:r>
          </a:p>
        </p:txBody>
      </p:sp>
    </p:spTree>
    <p:extLst>
      <p:ext uri="{BB962C8B-B14F-4D97-AF65-F5344CB8AC3E}">
        <p14:creationId xmlns:p14="http://schemas.microsoft.com/office/powerpoint/2010/main" val="755307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1A3C693-77E9-F8D3-4EDD-67BF540EF0AF}"/>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A0187A5-54EA-8E1E-A35A-08AB294EE65F}"/>
              </a:ext>
            </a:extLst>
          </p:cNvPr>
          <p:cNvSpPr txBox="1">
            <a:spLocks noGrp="1"/>
          </p:cNvSpPr>
          <p:nvPr>
            <p:ph type="body" idx="1"/>
          </p:nvPr>
        </p:nvSpPr>
        <p:spPr>
          <a:xfrm>
            <a:off x="512506" y="1394344"/>
            <a:ext cx="11009671" cy="4777234"/>
          </a:xfrm>
          <a:prstGeom prst="rect">
            <a:avLst/>
          </a:prstGeom>
          <a:noFill/>
          <a:ln>
            <a:noFill/>
          </a:ln>
        </p:spPr>
        <p:txBody>
          <a:bodyPr spcFirstLastPara="1" wrap="square" lIns="91425" tIns="45700" rIns="91425" bIns="45700" anchor="t" anchorCtr="0">
            <a:noAutofit/>
          </a:bodyPr>
          <a:lstStyle/>
          <a:p>
            <a:pPr marL="114300" indent="0">
              <a:buNone/>
            </a:pPr>
            <a:r>
              <a:rPr lang="en-US" sz="2000" b="1" u="sng" dirty="0">
                <a:solidFill>
                  <a:srgbClr val="FF0000"/>
                </a:solidFill>
              </a:rPr>
              <a:t>Key insights:</a:t>
            </a:r>
            <a:endParaRPr lang="en-US" sz="200" b="1" u="sng" dirty="0">
              <a:solidFill>
                <a:srgbClr val="FF0000"/>
              </a:solidFill>
            </a:endParaRPr>
          </a:p>
          <a:p>
            <a:pPr>
              <a:buFont typeface="Wingdings" panose="05000000000000000000" pitchFamily="2" charset="2"/>
              <a:buChar char="§"/>
            </a:pPr>
            <a:r>
              <a:rPr lang="en-US" sz="2000" dirty="0"/>
              <a:t>Business class tickets are significantly more expensive than Economy class tickets. </a:t>
            </a:r>
          </a:p>
          <a:p>
            <a:pPr>
              <a:buFont typeface="Wingdings" panose="05000000000000000000" pitchFamily="2" charset="2"/>
              <a:buChar char="§"/>
            </a:pPr>
            <a:r>
              <a:rPr lang="en-US" sz="2000" dirty="0"/>
              <a:t>Flight duration has a major impact on ticket prices; longer journeys usually cost more. </a:t>
            </a:r>
          </a:p>
          <a:p>
            <a:pPr>
              <a:buFont typeface="Wingdings" panose="05000000000000000000" pitchFamily="2" charset="2"/>
              <a:buChar char="§"/>
            </a:pPr>
            <a:r>
              <a:rPr lang="en-US" sz="2000" dirty="0"/>
              <a:t>Ticket prices vary based on airline, route, and number of stops. </a:t>
            </a:r>
          </a:p>
          <a:p>
            <a:pPr>
              <a:buFont typeface="Wingdings" panose="05000000000000000000" pitchFamily="2" charset="2"/>
              <a:buChar char="§"/>
            </a:pPr>
            <a:r>
              <a:rPr lang="en-US" sz="2000" dirty="0"/>
              <a:t>Weekend and seasonal travel demand can increase ticket prices. </a:t>
            </a:r>
          </a:p>
          <a:p>
            <a:pPr>
              <a:buFont typeface="Wingdings" panose="05000000000000000000" pitchFamily="2" charset="2"/>
              <a:buChar char="§"/>
            </a:pPr>
            <a:r>
              <a:rPr lang="en-US" sz="2000" dirty="0"/>
              <a:t>Direct flights generally have higher prices compared to connecting flights. </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114300" indent="0">
              <a:buNone/>
            </a:pPr>
            <a:endParaRPr lang="en-US" sz="400" dirty="0"/>
          </a:p>
          <a:p>
            <a:pPr marL="114300" indent="0">
              <a:buNone/>
            </a:pPr>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Recommendation:</a:t>
            </a:r>
          </a:p>
          <a:p>
            <a:pPr marL="0" lvl="0" indent="0" eaLnBrk="0" fontAlgn="base" hangingPunct="0">
              <a:lnSpc>
                <a:spcPct val="100000"/>
              </a:lnSpc>
              <a:spcBef>
                <a:spcPct val="0"/>
              </a:spcBef>
              <a:spcAft>
                <a:spcPct val="0"/>
              </a:spcAft>
              <a:buClrTx/>
              <a:buSzTx/>
              <a:buNone/>
            </a:pPr>
            <a:endParaRPr lang="en-US" altLang="en-US" sz="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
            </a:pPr>
            <a:r>
              <a:rPr lang="en-US" sz="2000" dirty="0"/>
              <a:t>Airlines can use dynamic pricing strategies based on demand and travel patterns. </a:t>
            </a:r>
          </a:p>
          <a:p>
            <a:pPr>
              <a:buFont typeface="Wingdings" panose="05000000000000000000" pitchFamily="2" charset="2"/>
              <a:buChar char="§"/>
            </a:pPr>
            <a:r>
              <a:rPr lang="en-US" sz="2000" dirty="0"/>
              <a:t>Customers should book tickets early to get lower prices. </a:t>
            </a:r>
          </a:p>
          <a:p>
            <a:pPr>
              <a:buFont typeface="Wingdings" panose="05000000000000000000" pitchFamily="2" charset="2"/>
              <a:buChar char="§"/>
            </a:pPr>
            <a:r>
              <a:rPr lang="en-US" sz="2000" dirty="0"/>
              <a:t>Travel platforms can provide smart price prediction and booking suggestions.  </a:t>
            </a:r>
          </a:p>
          <a:p>
            <a:pPr>
              <a:buFont typeface="Wingdings" panose="05000000000000000000" pitchFamily="2" charset="2"/>
              <a:buChar char="§"/>
            </a:pPr>
            <a:r>
              <a:rPr lang="en-US" sz="2000" dirty="0"/>
              <a:t>Real-time data integration can improve prediction accuracy and customer experience. </a:t>
            </a:r>
          </a:p>
        </p:txBody>
      </p:sp>
      <p:sp>
        <p:nvSpPr>
          <p:cNvPr id="8" name="TextBox 7">
            <a:extLst>
              <a:ext uri="{FF2B5EF4-FFF2-40B4-BE49-F238E27FC236}">
                <a16:creationId xmlns:a16="http://schemas.microsoft.com/office/drawing/2014/main" id="{A0DCB26C-DA1F-2C5B-21B3-35E2B5429BA3}"/>
              </a:ext>
            </a:extLst>
          </p:cNvPr>
          <p:cNvSpPr txBox="1"/>
          <p:nvPr/>
        </p:nvSpPr>
        <p:spPr>
          <a:xfrm>
            <a:off x="1379621" y="492374"/>
            <a:ext cx="9304815" cy="646331"/>
          </a:xfrm>
          <a:prstGeom prst="rect">
            <a:avLst/>
          </a:prstGeom>
          <a:noFill/>
        </p:spPr>
        <p:txBody>
          <a:bodyPr wrap="square">
            <a:spAutoFit/>
          </a:bodyPr>
          <a:lstStyle/>
          <a:p>
            <a:r>
              <a:rPr lang="en-US"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Final Business Insights and Recommendations</a:t>
            </a:r>
          </a:p>
        </p:txBody>
      </p:sp>
    </p:spTree>
    <p:extLst>
      <p:ext uri="{BB962C8B-B14F-4D97-AF65-F5344CB8AC3E}">
        <p14:creationId xmlns:p14="http://schemas.microsoft.com/office/powerpoint/2010/main" val="40982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1604909-B8CA-7435-C9BD-67FCF3538899}"/>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40E42E8F-F1BB-E666-516A-3A504BC115BC}"/>
              </a:ext>
            </a:extLst>
          </p:cNvPr>
          <p:cNvSpPr txBox="1">
            <a:spLocks noGrp="1"/>
          </p:cNvSpPr>
          <p:nvPr>
            <p:ph type="body" idx="1"/>
          </p:nvPr>
        </p:nvSpPr>
        <p:spPr>
          <a:xfrm>
            <a:off x="313352" y="746712"/>
            <a:ext cx="11565294" cy="6010906"/>
          </a:xfrm>
          <a:prstGeom prst="rect">
            <a:avLst/>
          </a:prstGeom>
          <a:noFill/>
          <a:ln>
            <a:noFill/>
          </a:ln>
        </p:spPr>
        <p:txBody>
          <a:bodyPr spcFirstLastPara="1" wrap="square" lIns="91425" tIns="45700" rIns="91425" bIns="45700" anchor="t" anchorCtr="0">
            <a:noAutofit/>
          </a:bodyPr>
          <a:lstStyle/>
          <a:p>
            <a:pPr algn="just">
              <a:buFont typeface="Wingdings" panose="05000000000000000000" pitchFamily="2" charset="2"/>
              <a:buChar char="§"/>
            </a:pPr>
            <a:r>
              <a:rPr lang="en-US" sz="1800" dirty="0"/>
              <a:t>Successfully addressed the airline industry's major challenge of flight ticket price prediction by developing an accurate and scalable Machine Learning solution using a dataset of more than </a:t>
            </a:r>
            <a:r>
              <a:rPr lang="en-US" sz="1800" b="1" dirty="0"/>
              <a:t>300,000 flight records</a:t>
            </a:r>
            <a:r>
              <a:rPr lang="en-US" sz="1800" dirty="0"/>
              <a:t>..</a:t>
            </a:r>
          </a:p>
          <a:p>
            <a:pPr algn="just">
              <a:buFont typeface="Wingdings" panose="05000000000000000000" pitchFamily="2" charset="2"/>
              <a:buChar char="§"/>
            </a:pPr>
            <a:r>
              <a:rPr lang="en-US" sz="1800" dirty="0"/>
              <a:t>The model effectively captures the impact of important factors such as travel class, airline, route, duration, number of stops, and travel timing, enabling more accurate flight fare prediction.</a:t>
            </a:r>
          </a:p>
          <a:p>
            <a:pPr algn="just">
              <a:buFont typeface="Wingdings" panose="05000000000000000000" pitchFamily="2" charset="2"/>
              <a:buChar char="§"/>
            </a:pPr>
            <a:r>
              <a:rPr lang="en-US" sz="1800" dirty="0"/>
              <a:t>Multiple Machine Learning models were implemented and compared. Among all models, </a:t>
            </a:r>
            <a:r>
              <a:rPr lang="en-US" sz="1800" b="1" dirty="0" err="1"/>
              <a:t>XGBoost</a:t>
            </a:r>
            <a:r>
              <a:rPr lang="en-US" sz="1800" dirty="0"/>
              <a:t> achieved the best performance with: </a:t>
            </a:r>
            <a:r>
              <a:rPr lang="en-US" sz="1800" b="1" dirty="0"/>
              <a:t>R² Score = 0.981, RMSE = 3119,</a:t>
            </a:r>
            <a:r>
              <a:rPr lang="en-US" sz="1800" dirty="0"/>
              <a:t> </a:t>
            </a:r>
            <a:r>
              <a:rPr lang="en-US" sz="1800" b="1" dirty="0"/>
              <a:t>Cross Validation Score = 0.9812</a:t>
            </a:r>
            <a:endParaRPr lang="en-US" sz="1800" dirty="0"/>
          </a:p>
          <a:p>
            <a:pPr marL="0" indent="0" algn="just">
              <a:lnSpc>
                <a:spcPct val="150000"/>
              </a:lnSpc>
              <a:buNone/>
            </a:pPr>
            <a:r>
              <a:rPr lang="en-US" sz="1800" b="1" dirty="0">
                <a:solidFill>
                  <a:srgbClr val="FF0000"/>
                </a:solidFill>
              </a:rPr>
              <a:t>Business Impact:</a:t>
            </a:r>
          </a:p>
          <a:p>
            <a:pPr algn="just">
              <a:buFont typeface="Wingdings" panose="05000000000000000000" pitchFamily="2" charset="2"/>
              <a:buChar char="§"/>
            </a:pPr>
            <a:r>
              <a:rPr lang="en-US" sz="1800" dirty="0"/>
              <a:t>Helps customers find better ticket prices </a:t>
            </a:r>
          </a:p>
          <a:p>
            <a:pPr algn="just">
              <a:buFont typeface="Wingdings" panose="05000000000000000000" pitchFamily="2" charset="2"/>
              <a:buChar char="§"/>
            </a:pPr>
            <a:r>
              <a:rPr lang="en-US" sz="1800" dirty="0"/>
              <a:t>Supports airlines in implementing smart pricing strategies </a:t>
            </a:r>
          </a:p>
          <a:p>
            <a:pPr algn="just">
              <a:buFont typeface="Wingdings" panose="05000000000000000000" pitchFamily="2" charset="2"/>
              <a:buChar char="§"/>
            </a:pPr>
            <a:r>
              <a:rPr lang="en-US" sz="1800" dirty="0"/>
              <a:t>Improves customer booking experience </a:t>
            </a:r>
          </a:p>
          <a:p>
            <a:pPr algn="just">
              <a:buFont typeface="Wingdings" panose="05000000000000000000" pitchFamily="2" charset="2"/>
              <a:buChar char="§"/>
            </a:pPr>
            <a:r>
              <a:rPr lang="en-US" sz="1800" dirty="0"/>
              <a:t>Assists travel platforms with price forecasting and recommendations </a:t>
            </a:r>
          </a:p>
          <a:p>
            <a:pPr algn="just">
              <a:buFont typeface="Wingdings" panose="05000000000000000000" pitchFamily="2" charset="2"/>
              <a:buChar char="§"/>
            </a:pPr>
            <a:r>
              <a:rPr lang="en-US" sz="1800" dirty="0"/>
              <a:t>Enables data-driven decision making in the travel industry </a:t>
            </a:r>
          </a:p>
          <a:p>
            <a:pPr marL="114300" indent="0" algn="just">
              <a:buNone/>
            </a:pPr>
            <a:endParaRPr lang="en-US" sz="100" b="1" dirty="0"/>
          </a:p>
          <a:p>
            <a:pPr marL="114300" indent="0" algn="just">
              <a:buNone/>
            </a:pPr>
            <a:r>
              <a:rPr lang="en-US" sz="1800" b="1" dirty="0">
                <a:solidFill>
                  <a:srgbClr val="FF0000"/>
                </a:solidFill>
              </a:rPr>
              <a:t>Final Outcome:</a:t>
            </a:r>
          </a:p>
          <a:p>
            <a:pPr algn="just">
              <a:buFont typeface="Wingdings" panose="05000000000000000000" pitchFamily="2" charset="2"/>
              <a:buChar char="§"/>
            </a:pPr>
            <a:r>
              <a:rPr lang="en-US" sz="1800" dirty="0"/>
              <a:t>A production-ready and deployable Flight Ticket Price Prediction System was successfully developed and can be integrated with platforms like </a:t>
            </a:r>
            <a:r>
              <a:rPr lang="en-US" sz="1800" dirty="0" err="1"/>
              <a:t>Streamlit</a:t>
            </a:r>
            <a:r>
              <a:rPr lang="en-US" sz="1800" dirty="0"/>
              <a:t> and </a:t>
            </a:r>
            <a:r>
              <a:rPr lang="en-US" sz="1800" dirty="0" err="1"/>
              <a:t>FastAPI</a:t>
            </a:r>
            <a:r>
              <a:rPr lang="en-US" sz="1800" dirty="0"/>
              <a:t> for real-time fare prediction.</a:t>
            </a:r>
          </a:p>
        </p:txBody>
      </p:sp>
      <p:sp>
        <p:nvSpPr>
          <p:cNvPr id="8" name="TextBox 7">
            <a:extLst>
              <a:ext uri="{FF2B5EF4-FFF2-40B4-BE49-F238E27FC236}">
                <a16:creationId xmlns:a16="http://schemas.microsoft.com/office/drawing/2014/main" id="{E16587C3-DC39-00AA-5C53-C5335E07A8D9}"/>
              </a:ext>
            </a:extLst>
          </p:cNvPr>
          <p:cNvSpPr txBox="1"/>
          <p:nvPr/>
        </p:nvSpPr>
        <p:spPr>
          <a:xfrm>
            <a:off x="3047999" y="100382"/>
            <a:ext cx="6096000" cy="646331"/>
          </a:xfrm>
          <a:prstGeom prst="rect">
            <a:avLst/>
          </a:prstGeom>
          <a:noFill/>
        </p:spPr>
        <p:txBody>
          <a:bodyPr wrap="square">
            <a:spAutoFit/>
          </a:bodyPr>
          <a:lstStyle/>
          <a:p>
            <a:pPr algn="ct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2268390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59841" y="2659559"/>
            <a:ext cx="4625258"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1" i="0" u="none" strike="noStrike" cap="none" dirty="0">
                <a:solidFill>
                  <a:srgbClr val="FF0000"/>
                </a:solidFill>
                <a:latin typeface="Libre Baskerville"/>
                <a:ea typeface="Libre Baskerville"/>
                <a:cs typeface="Libre Baskerville"/>
                <a:sym typeface="Libre Baskerville"/>
              </a:rPr>
              <a:t>THANK YOU</a:t>
            </a:r>
            <a:endParaRPr sz="1800" b="1" i="0" u="none" strike="noStrike" cap="none" dirty="0">
              <a:solidFill>
                <a:srgbClr val="FF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2758</TotalTime>
  <Words>1580</Words>
  <Application>Microsoft Office PowerPoint</Application>
  <PresentationFormat>Widescreen</PresentationFormat>
  <Paragraphs>261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Libre Baskerville</vt:lpstr>
      <vt:lpstr>Calibri</vt:lpstr>
      <vt:lpstr>Wingdings</vt:lpstr>
      <vt:lpstr>Office Theme</vt:lpstr>
      <vt:lpstr>PowerPoint Presentation</vt:lpstr>
      <vt:lpstr>About Me</vt:lpstr>
      <vt:lpstr>Agenda</vt:lpstr>
      <vt:lpstr>Introduction</vt:lpstr>
      <vt:lpstr>Business Problem</vt:lpstr>
      <vt:lpstr>Objective</vt:lpstr>
      <vt:lpstr>CRISP-ML(Q) Methodology</vt:lpstr>
      <vt:lpstr>PowerPoint Presentation</vt:lpstr>
      <vt:lpstr>2. DATA Preprocessing</vt:lpstr>
      <vt:lpstr>PowerPoint Presentation</vt:lpstr>
      <vt:lpstr>3. Model Building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VIJAYA LAKSHMI BOLLAPALLI</cp:lastModifiedBy>
  <cp:revision>79</cp:revision>
  <dcterms:created xsi:type="dcterms:W3CDTF">2021-02-16T05:19:01Z</dcterms:created>
  <dcterms:modified xsi:type="dcterms:W3CDTF">2026-05-08T16:00:49Z</dcterms:modified>
</cp:coreProperties>
</file>